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93" r:id="rId5"/>
    <p:sldId id="295" r:id="rId6"/>
    <p:sldId id="296" r:id="rId7"/>
    <p:sldId id="298" r:id="rId8"/>
    <p:sldId id="297" r:id="rId9"/>
    <p:sldId id="299" r:id="rId10"/>
    <p:sldId id="301" r:id="rId11"/>
    <p:sldId id="324" r:id="rId12"/>
    <p:sldId id="300" r:id="rId13"/>
    <p:sldId id="302" r:id="rId14"/>
    <p:sldId id="256" r:id="rId15"/>
    <p:sldId id="303" r:id="rId16"/>
    <p:sldId id="309" r:id="rId17"/>
    <p:sldId id="304" r:id="rId18"/>
    <p:sldId id="310" r:id="rId19"/>
    <p:sldId id="305" r:id="rId20"/>
    <p:sldId id="306" r:id="rId21"/>
    <p:sldId id="307" r:id="rId22"/>
    <p:sldId id="315" r:id="rId23"/>
    <p:sldId id="311" r:id="rId24"/>
    <p:sldId id="308" r:id="rId25"/>
    <p:sldId id="312" r:id="rId26"/>
    <p:sldId id="322" r:id="rId27"/>
    <p:sldId id="318" r:id="rId28"/>
    <p:sldId id="321" r:id="rId29"/>
    <p:sldId id="327" r:id="rId30"/>
    <p:sldId id="326" r:id="rId31"/>
    <p:sldId id="323" r:id="rId32"/>
    <p:sldId id="313" r:id="rId33"/>
    <p:sldId id="317" r:id="rId34"/>
    <p:sldId id="314" r:id="rId35"/>
    <p:sldId id="320" r:id="rId36"/>
    <p:sldId id="319" r:id="rId37"/>
    <p:sldId id="316" r:id="rId3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8677D-52D7-4975-B572-207C7B0ACEC8}" v="2" dt="2022-03-31T22:47:08.729"/>
    <p1510:client id="{27B949EF-A37C-4BE8-9FA1-61CA7A945879}" v="2600" dt="2022-04-01T08:11:12.272"/>
    <p1510:client id="{5138A6BE-29C3-49C3-96C7-D3708A39A766}" v="1266" dt="2022-04-01T08:10:41.553"/>
    <p1510:client id="{5BD58627-DF3C-434B-B8B4-1C139AADE271}" v="1593" dt="2022-04-01T08:04:00.678"/>
    <p1510:client id="{CC2EAAE9-FED5-2448-B432-68062B7D57A4}" v="412" dt="2022-04-01T08:10:09.539"/>
    <p1510:client id="{EEDF8EC2-0904-EB42-97F2-0D1CFB5DE14A}" v="1613" dt="2022-03-30T13:09:39.3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5F9DDB-8BA1-4DE4-A207-EF75F63FCE80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4220263A-2D40-44A1-9E0E-C9EC05C408F8}">
      <dgm:prSet phldrT="[Texte]"/>
      <dgm:spPr/>
      <dgm:t>
        <a:bodyPr/>
        <a:lstStyle/>
        <a:p>
          <a:pPr rtl="0"/>
          <a:r>
            <a:rPr lang="fr-FR">
              <a:latin typeface="Arial"/>
            </a:rPr>
            <a:t>Initialisation</a:t>
          </a:r>
          <a:r>
            <a:rPr lang="fr-FR" b="0" i="0" u="none" strike="noStrike" cap="none" baseline="0" noProof="0">
              <a:solidFill>
                <a:schemeClr val="bg1"/>
              </a:solidFill>
              <a:latin typeface="Arial"/>
              <a:cs typeface="Arial"/>
            </a:rPr>
            <a:t> (Essaim de points aléatoires dans le domaine)</a:t>
          </a:r>
        </a:p>
      </dgm:t>
    </dgm:pt>
    <dgm:pt modelId="{CF8D40CB-9BB2-4119-9CCB-27D0762E95DC}" type="parTrans" cxnId="{10B7DA2D-74E8-4CCC-8C68-9AA8D372201B}">
      <dgm:prSet/>
      <dgm:spPr/>
      <dgm:t>
        <a:bodyPr/>
        <a:lstStyle/>
        <a:p>
          <a:endParaRPr lang="fr-FR"/>
        </a:p>
      </dgm:t>
    </dgm:pt>
    <dgm:pt modelId="{EA4D61C5-BB4F-44A9-A98C-94FD3B07F2DE}" type="sibTrans" cxnId="{10B7DA2D-74E8-4CCC-8C68-9AA8D372201B}">
      <dgm:prSet/>
      <dgm:spPr/>
      <dgm:t>
        <a:bodyPr/>
        <a:lstStyle/>
        <a:p>
          <a:endParaRPr lang="fr-FR"/>
        </a:p>
      </dgm:t>
    </dgm:pt>
    <dgm:pt modelId="{1F18DFBC-ECE5-4073-9F8B-9736A484AC50}">
      <dgm:prSet phldrT="[Texte]"/>
      <dgm:spPr/>
      <dgm:t>
        <a:bodyPr/>
        <a:lstStyle/>
        <a:p>
          <a:pPr rtl="0"/>
          <a:r>
            <a:rPr lang="fr-FR">
              <a:latin typeface="Arial"/>
            </a:rPr>
            <a:t>Calcul position et vitesse</a:t>
          </a:r>
        </a:p>
      </dgm:t>
    </dgm:pt>
    <dgm:pt modelId="{97EFB4BD-5DA5-4282-BEF7-B2FA4BBFC544}" type="parTrans" cxnId="{F7F55E81-2640-4D7E-858E-633C0178EEAB}">
      <dgm:prSet/>
      <dgm:spPr/>
      <dgm:t>
        <a:bodyPr/>
        <a:lstStyle/>
        <a:p>
          <a:endParaRPr lang="fr-FR"/>
        </a:p>
      </dgm:t>
    </dgm:pt>
    <dgm:pt modelId="{0A54680D-DBC6-4BD1-8578-D41FA1893080}" type="sibTrans" cxnId="{F7F55E81-2640-4D7E-858E-633C0178EEAB}">
      <dgm:prSet/>
      <dgm:spPr/>
      <dgm:t>
        <a:bodyPr/>
        <a:lstStyle/>
        <a:p>
          <a:endParaRPr lang="fr-FR"/>
        </a:p>
      </dgm:t>
    </dgm:pt>
    <dgm:pt modelId="{D2110DCD-6756-4745-8D86-90B0F6CF9433}">
      <dgm:prSet phldrT="[Texte]"/>
      <dgm:spPr/>
      <dgm:t>
        <a:bodyPr/>
        <a:lstStyle/>
        <a:p>
          <a:pPr rtl="0"/>
          <a:r>
            <a:rPr lang="fr-FR">
              <a:latin typeface="Arial" panose="020B0604020202020204" pitchFamily="34" charset="0"/>
              <a:cs typeface="Arial" panose="020B0604020202020204" pitchFamily="34" charset="0"/>
            </a:rPr>
            <a:t>Vérification de la stabilité </a:t>
          </a:r>
        </a:p>
      </dgm:t>
    </dgm:pt>
    <dgm:pt modelId="{059DA381-A575-4082-AB53-D1FF83A2D215}" type="parTrans" cxnId="{9C7C31AE-F72E-4383-AAE1-EBAE35271B15}">
      <dgm:prSet/>
      <dgm:spPr/>
      <dgm:t>
        <a:bodyPr/>
        <a:lstStyle/>
        <a:p>
          <a:endParaRPr lang="fr-FR"/>
        </a:p>
      </dgm:t>
    </dgm:pt>
    <dgm:pt modelId="{401651F6-8961-4C96-B1CE-F13F5FB5EC7B}" type="sibTrans" cxnId="{9C7C31AE-F72E-4383-AAE1-EBAE35271B15}">
      <dgm:prSet/>
      <dgm:spPr/>
      <dgm:t>
        <a:bodyPr/>
        <a:lstStyle/>
        <a:p>
          <a:endParaRPr lang="fr-FR"/>
        </a:p>
        <a:p>
          <a:endParaRPr lang="fr-FR"/>
        </a:p>
        <a:p>
          <a:endParaRPr lang="fr-FR"/>
        </a:p>
      </dgm:t>
    </dgm:pt>
    <dgm:pt modelId="{45CEC9EE-1E5A-4858-A4DB-1FF7CBC4E4D3}">
      <dgm:prSet phldr="0"/>
      <dgm:spPr/>
      <dgm:t>
        <a:bodyPr/>
        <a:lstStyle/>
        <a:p>
          <a:pPr rtl="0"/>
          <a:r>
            <a:rPr lang="fr-FR">
              <a:latin typeface="Arial"/>
            </a:rPr>
            <a:t>Sortie d'un front de Pareto</a:t>
          </a:r>
        </a:p>
      </dgm:t>
    </dgm:pt>
    <dgm:pt modelId="{03193FC1-52BE-41CF-9930-710B3E1CAB4A}" type="parTrans" cxnId="{D3D4A51F-FE02-4044-A612-EB717D21BA2D}">
      <dgm:prSet/>
      <dgm:spPr/>
      <dgm:t>
        <a:bodyPr/>
        <a:lstStyle/>
        <a:p>
          <a:endParaRPr lang="fr-FR"/>
        </a:p>
      </dgm:t>
    </dgm:pt>
    <dgm:pt modelId="{6580FCF8-D5E0-4676-89F9-EA9147D264FD}" type="sibTrans" cxnId="{D3D4A51F-FE02-4044-A612-EB717D21BA2D}">
      <dgm:prSet/>
      <dgm:spPr/>
      <dgm:t>
        <a:bodyPr/>
        <a:lstStyle/>
        <a:p>
          <a:endParaRPr lang="fr-FR"/>
        </a:p>
      </dgm:t>
    </dgm:pt>
    <dgm:pt modelId="{5EF548E5-0F26-4C64-9E3C-ABDDCCA96FD7}">
      <dgm:prSet phldrT="[Texte]"/>
      <dgm:spPr/>
      <dgm:t>
        <a:bodyPr/>
        <a:lstStyle/>
        <a:p>
          <a:pPr rtl="0"/>
          <a:r>
            <a:rPr lang="fr-FR">
              <a:latin typeface="Arial"/>
            </a:rPr>
            <a:t>Evaluation des solutions trouvées</a:t>
          </a:r>
          <a:endParaRPr lang="fr-FR"/>
        </a:p>
      </dgm:t>
    </dgm:pt>
    <dgm:pt modelId="{135612C1-14ED-4653-830B-1365D770CE5E}" type="parTrans" cxnId="{CF4BEB66-4EE0-4F28-9E03-370D6B7A5082}">
      <dgm:prSet/>
      <dgm:spPr/>
      <dgm:t>
        <a:bodyPr/>
        <a:lstStyle/>
        <a:p>
          <a:endParaRPr lang="fr-FR"/>
        </a:p>
      </dgm:t>
    </dgm:pt>
    <dgm:pt modelId="{9F991966-AA15-45C4-806A-C76C89B51650}" type="sibTrans" cxnId="{CF4BEB66-4EE0-4F28-9E03-370D6B7A5082}">
      <dgm:prSet/>
      <dgm:spPr/>
      <dgm:t>
        <a:bodyPr/>
        <a:lstStyle/>
        <a:p>
          <a:endParaRPr lang="fr-FR"/>
        </a:p>
      </dgm:t>
    </dgm:pt>
    <dgm:pt modelId="{5574CCEC-711A-42DD-BC5F-73D1B166C6E1}" type="pres">
      <dgm:prSet presAssocID="{185F9DDB-8BA1-4DE4-A207-EF75F63FCE80}" presName="linearFlow" presStyleCnt="0">
        <dgm:presLayoutVars>
          <dgm:resizeHandles val="exact"/>
        </dgm:presLayoutVars>
      </dgm:prSet>
      <dgm:spPr/>
    </dgm:pt>
    <dgm:pt modelId="{F357DCFD-04C1-469A-AD36-6057DE3A93DC}" type="pres">
      <dgm:prSet presAssocID="{4220263A-2D40-44A1-9E0E-C9EC05C408F8}" presName="node" presStyleLbl="node1" presStyleIdx="0" presStyleCnt="5">
        <dgm:presLayoutVars>
          <dgm:bulletEnabled val="1"/>
        </dgm:presLayoutVars>
      </dgm:prSet>
      <dgm:spPr/>
    </dgm:pt>
    <dgm:pt modelId="{76C3D46D-98DD-452B-817E-27C58998363B}" type="pres">
      <dgm:prSet presAssocID="{EA4D61C5-BB4F-44A9-A98C-94FD3B07F2DE}" presName="sibTrans" presStyleLbl="sibTrans2D1" presStyleIdx="0" presStyleCnt="4"/>
      <dgm:spPr/>
    </dgm:pt>
    <dgm:pt modelId="{CD51DBD2-83E2-4AEF-8CC6-40D3F21EB477}" type="pres">
      <dgm:prSet presAssocID="{EA4D61C5-BB4F-44A9-A98C-94FD3B07F2DE}" presName="connectorText" presStyleLbl="sibTrans2D1" presStyleIdx="0" presStyleCnt="4"/>
      <dgm:spPr/>
    </dgm:pt>
    <dgm:pt modelId="{0AD5D1FA-A840-4596-982B-2F3EF197892E}" type="pres">
      <dgm:prSet presAssocID="{1F18DFBC-ECE5-4073-9F8B-9736A484AC50}" presName="node" presStyleLbl="node1" presStyleIdx="1" presStyleCnt="5">
        <dgm:presLayoutVars>
          <dgm:bulletEnabled val="1"/>
        </dgm:presLayoutVars>
      </dgm:prSet>
      <dgm:spPr/>
    </dgm:pt>
    <dgm:pt modelId="{8E4F097F-E324-4B49-848F-16D21E7CC332}" type="pres">
      <dgm:prSet presAssocID="{0A54680D-DBC6-4BD1-8578-D41FA1893080}" presName="sibTrans" presStyleLbl="sibTrans2D1" presStyleIdx="1" presStyleCnt="4"/>
      <dgm:spPr/>
    </dgm:pt>
    <dgm:pt modelId="{F33EB5C2-2F05-400C-96B8-7319E8A1D44E}" type="pres">
      <dgm:prSet presAssocID="{0A54680D-DBC6-4BD1-8578-D41FA1893080}" presName="connectorText" presStyleLbl="sibTrans2D1" presStyleIdx="1" presStyleCnt="4"/>
      <dgm:spPr/>
    </dgm:pt>
    <dgm:pt modelId="{988A5230-270D-4037-80D1-5F20D82E1308}" type="pres">
      <dgm:prSet presAssocID="{D2110DCD-6756-4745-8D86-90B0F6CF9433}" presName="node" presStyleLbl="node1" presStyleIdx="2" presStyleCnt="5">
        <dgm:presLayoutVars>
          <dgm:bulletEnabled val="1"/>
        </dgm:presLayoutVars>
      </dgm:prSet>
      <dgm:spPr/>
    </dgm:pt>
    <dgm:pt modelId="{4A3C53A5-DFA8-4FD2-AC80-13598C9B6764}" type="pres">
      <dgm:prSet presAssocID="{401651F6-8961-4C96-B1CE-F13F5FB5EC7B}" presName="sibTrans" presStyleLbl="sibTrans2D1" presStyleIdx="2" presStyleCnt="4"/>
      <dgm:spPr/>
    </dgm:pt>
    <dgm:pt modelId="{BD9160A4-4089-423A-9335-F7DED7FAA5BE}" type="pres">
      <dgm:prSet presAssocID="{401651F6-8961-4C96-B1CE-F13F5FB5EC7B}" presName="connectorText" presStyleLbl="sibTrans2D1" presStyleIdx="2" presStyleCnt="4"/>
      <dgm:spPr/>
    </dgm:pt>
    <dgm:pt modelId="{C58B38D9-14AD-4ABA-9BC6-4E945AB3294F}" type="pres">
      <dgm:prSet presAssocID="{5EF548E5-0F26-4C64-9E3C-ABDDCCA96FD7}" presName="node" presStyleLbl="node1" presStyleIdx="3" presStyleCnt="5">
        <dgm:presLayoutVars>
          <dgm:bulletEnabled val="1"/>
        </dgm:presLayoutVars>
      </dgm:prSet>
      <dgm:spPr/>
    </dgm:pt>
    <dgm:pt modelId="{9D27F6B4-D00D-4F80-A452-330520B483CD}" type="pres">
      <dgm:prSet presAssocID="{9F991966-AA15-45C4-806A-C76C89B51650}" presName="sibTrans" presStyleLbl="sibTrans2D1" presStyleIdx="3" presStyleCnt="4"/>
      <dgm:spPr/>
    </dgm:pt>
    <dgm:pt modelId="{E560A526-8CD4-4BF5-B87F-D5F8F9329D80}" type="pres">
      <dgm:prSet presAssocID="{9F991966-AA15-45C4-806A-C76C89B51650}" presName="connectorText" presStyleLbl="sibTrans2D1" presStyleIdx="3" presStyleCnt="4"/>
      <dgm:spPr/>
    </dgm:pt>
    <dgm:pt modelId="{BF95AFFD-8018-433A-B88C-AF795D81CDCF}" type="pres">
      <dgm:prSet presAssocID="{45CEC9EE-1E5A-4858-A4DB-1FF7CBC4E4D3}" presName="node" presStyleLbl="node1" presStyleIdx="4" presStyleCnt="5">
        <dgm:presLayoutVars>
          <dgm:bulletEnabled val="1"/>
        </dgm:presLayoutVars>
      </dgm:prSet>
      <dgm:spPr/>
    </dgm:pt>
  </dgm:ptLst>
  <dgm:cxnLst>
    <dgm:cxn modelId="{1DB31E00-8BB6-43BA-AA11-2033D242CBEB}" type="presOf" srcId="{EA4D61C5-BB4F-44A9-A98C-94FD3B07F2DE}" destId="{76C3D46D-98DD-452B-817E-27C58998363B}" srcOrd="0" destOrd="0" presId="urn:microsoft.com/office/officeart/2005/8/layout/process2"/>
    <dgm:cxn modelId="{8275F309-A6B6-42C6-8050-2650C0E36BE7}" type="presOf" srcId="{9F991966-AA15-45C4-806A-C76C89B51650}" destId="{E560A526-8CD4-4BF5-B87F-D5F8F9329D80}" srcOrd="1" destOrd="0" presId="urn:microsoft.com/office/officeart/2005/8/layout/process2"/>
    <dgm:cxn modelId="{D3D4A51F-FE02-4044-A612-EB717D21BA2D}" srcId="{185F9DDB-8BA1-4DE4-A207-EF75F63FCE80}" destId="{45CEC9EE-1E5A-4858-A4DB-1FF7CBC4E4D3}" srcOrd="4" destOrd="0" parTransId="{03193FC1-52BE-41CF-9930-710B3E1CAB4A}" sibTransId="{6580FCF8-D5E0-4676-89F9-EA9147D264FD}"/>
    <dgm:cxn modelId="{10B7DA2D-74E8-4CCC-8C68-9AA8D372201B}" srcId="{185F9DDB-8BA1-4DE4-A207-EF75F63FCE80}" destId="{4220263A-2D40-44A1-9E0E-C9EC05C408F8}" srcOrd="0" destOrd="0" parTransId="{CF8D40CB-9BB2-4119-9CCB-27D0762E95DC}" sibTransId="{EA4D61C5-BB4F-44A9-A98C-94FD3B07F2DE}"/>
    <dgm:cxn modelId="{5B4E5346-F8BB-4B5F-9E38-C5830F6A5437}" type="presOf" srcId="{401651F6-8961-4C96-B1CE-F13F5FB5EC7B}" destId="{4A3C53A5-DFA8-4FD2-AC80-13598C9B6764}" srcOrd="0" destOrd="0" presId="urn:microsoft.com/office/officeart/2005/8/layout/process2"/>
    <dgm:cxn modelId="{CF4BEB66-4EE0-4F28-9E03-370D6B7A5082}" srcId="{185F9DDB-8BA1-4DE4-A207-EF75F63FCE80}" destId="{5EF548E5-0F26-4C64-9E3C-ABDDCCA96FD7}" srcOrd="3" destOrd="0" parTransId="{135612C1-14ED-4653-830B-1365D770CE5E}" sibTransId="{9F991966-AA15-45C4-806A-C76C89B51650}"/>
    <dgm:cxn modelId="{A4FA4473-36C1-4461-A0E4-2A5128F289E0}" type="presOf" srcId="{45CEC9EE-1E5A-4858-A4DB-1FF7CBC4E4D3}" destId="{BF95AFFD-8018-433A-B88C-AF795D81CDCF}" srcOrd="0" destOrd="0" presId="urn:microsoft.com/office/officeart/2005/8/layout/process2"/>
    <dgm:cxn modelId="{F7F55E81-2640-4D7E-858E-633C0178EEAB}" srcId="{185F9DDB-8BA1-4DE4-A207-EF75F63FCE80}" destId="{1F18DFBC-ECE5-4073-9F8B-9736A484AC50}" srcOrd="1" destOrd="0" parTransId="{97EFB4BD-5DA5-4282-BEF7-B2FA4BBFC544}" sibTransId="{0A54680D-DBC6-4BD1-8578-D41FA1893080}"/>
    <dgm:cxn modelId="{BA262F85-95B1-4E23-A652-4F1C10FF319A}" type="presOf" srcId="{4220263A-2D40-44A1-9E0E-C9EC05C408F8}" destId="{F357DCFD-04C1-469A-AD36-6057DE3A93DC}" srcOrd="0" destOrd="0" presId="urn:microsoft.com/office/officeart/2005/8/layout/process2"/>
    <dgm:cxn modelId="{1401B58D-F1D9-44D6-8377-999D0C5F7B0E}" type="presOf" srcId="{D2110DCD-6756-4745-8D86-90B0F6CF9433}" destId="{988A5230-270D-4037-80D1-5F20D82E1308}" srcOrd="0" destOrd="0" presId="urn:microsoft.com/office/officeart/2005/8/layout/process2"/>
    <dgm:cxn modelId="{4AA56A94-648A-4C7A-A0C2-B1BA6120EA65}" type="presOf" srcId="{0A54680D-DBC6-4BD1-8578-D41FA1893080}" destId="{8E4F097F-E324-4B49-848F-16D21E7CC332}" srcOrd="0" destOrd="0" presId="urn:microsoft.com/office/officeart/2005/8/layout/process2"/>
    <dgm:cxn modelId="{4B19E595-5F35-4873-B4EB-BB0EFF285253}" type="presOf" srcId="{0A54680D-DBC6-4BD1-8578-D41FA1893080}" destId="{F33EB5C2-2F05-400C-96B8-7319E8A1D44E}" srcOrd="1" destOrd="0" presId="urn:microsoft.com/office/officeart/2005/8/layout/process2"/>
    <dgm:cxn modelId="{7869A7A6-1BDC-4F53-9920-4A923F8E4A38}" type="presOf" srcId="{9F991966-AA15-45C4-806A-C76C89B51650}" destId="{9D27F6B4-D00D-4F80-A452-330520B483CD}" srcOrd="0" destOrd="0" presId="urn:microsoft.com/office/officeart/2005/8/layout/process2"/>
    <dgm:cxn modelId="{9C7C31AE-F72E-4383-AAE1-EBAE35271B15}" srcId="{185F9DDB-8BA1-4DE4-A207-EF75F63FCE80}" destId="{D2110DCD-6756-4745-8D86-90B0F6CF9433}" srcOrd="2" destOrd="0" parTransId="{059DA381-A575-4082-AB53-D1FF83A2D215}" sibTransId="{401651F6-8961-4C96-B1CE-F13F5FB5EC7B}"/>
    <dgm:cxn modelId="{F56801B3-9E76-47B2-AFBC-F8371E3CD964}" type="presOf" srcId="{EA4D61C5-BB4F-44A9-A98C-94FD3B07F2DE}" destId="{CD51DBD2-83E2-4AEF-8CC6-40D3F21EB477}" srcOrd="1" destOrd="0" presId="urn:microsoft.com/office/officeart/2005/8/layout/process2"/>
    <dgm:cxn modelId="{5ACEECC9-1117-4C53-B7A2-964C8F881FA0}" type="presOf" srcId="{1F18DFBC-ECE5-4073-9F8B-9736A484AC50}" destId="{0AD5D1FA-A840-4596-982B-2F3EF197892E}" srcOrd="0" destOrd="0" presId="urn:microsoft.com/office/officeart/2005/8/layout/process2"/>
    <dgm:cxn modelId="{1828DBE5-2FE6-438E-8408-3D50F2C2E249}" type="presOf" srcId="{5EF548E5-0F26-4C64-9E3C-ABDDCCA96FD7}" destId="{C58B38D9-14AD-4ABA-9BC6-4E945AB3294F}" srcOrd="0" destOrd="0" presId="urn:microsoft.com/office/officeart/2005/8/layout/process2"/>
    <dgm:cxn modelId="{68757DEC-086F-4C81-BE6E-50C7361150F7}" type="presOf" srcId="{185F9DDB-8BA1-4DE4-A207-EF75F63FCE80}" destId="{5574CCEC-711A-42DD-BC5F-73D1B166C6E1}" srcOrd="0" destOrd="0" presId="urn:microsoft.com/office/officeart/2005/8/layout/process2"/>
    <dgm:cxn modelId="{23F225FC-A69A-4E9B-946F-7443E22E70F1}" type="presOf" srcId="{401651F6-8961-4C96-B1CE-F13F5FB5EC7B}" destId="{BD9160A4-4089-423A-9335-F7DED7FAA5BE}" srcOrd="1" destOrd="0" presId="urn:microsoft.com/office/officeart/2005/8/layout/process2"/>
    <dgm:cxn modelId="{506E4F79-696B-4981-A96B-05FCF40B69F9}" type="presParOf" srcId="{5574CCEC-711A-42DD-BC5F-73D1B166C6E1}" destId="{F357DCFD-04C1-469A-AD36-6057DE3A93DC}" srcOrd="0" destOrd="0" presId="urn:microsoft.com/office/officeart/2005/8/layout/process2"/>
    <dgm:cxn modelId="{0D7CDECE-AB65-4C74-A444-BF5927ADF814}" type="presParOf" srcId="{5574CCEC-711A-42DD-BC5F-73D1B166C6E1}" destId="{76C3D46D-98DD-452B-817E-27C58998363B}" srcOrd="1" destOrd="0" presId="urn:microsoft.com/office/officeart/2005/8/layout/process2"/>
    <dgm:cxn modelId="{F052C142-9D09-4BA9-9DEC-ACEB871009EC}" type="presParOf" srcId="{76C3D46D-98DD-452B-817E-27C58998363B}" destId="{CD51DBD2-83E2-4AEF-8CC6-40D3F21EB477}" srcOrd="0" destOrd="0" presId="urn:microsoft.com/office/officeart/2005/8/layout/process2"/>
    <dgm:cxn modelId="{19591435-4885-4946-B6F8-C7E1CC740684}" type="presParOf" srcId="{5574CCEC-711A-42DD-BC5F-73D1B166C6E1}" destId="{0AD5D1FA-A840-4596-982B-2F3EF197892E}" srcOrd="2" destOrd="0" presId="urn:microsoft.com/office/officeart/2005/8/layout/process2"/>
    <dgm:cxn modelId="{D3EE69FC-6816-4DF6-88E0-B73B115A8F43}" type="presParOf" srcId="{5574CCEC-711A-42DD-BC5F-73D1B166C6E1}" destId="{8E4F097F-E324-4B49-848F-16D21E7CC332}" srcOrd="3" destOrd="0" presId="urn:microsoft.com/office/officeart/2005/8/layout/process2"/>
    <dgm:cxn modelId="{BAA03F31-61F7-4D5F-9F8A-DD2D4B1F0BA8}" type="presParOf" srcId="{8E4F097F-E324-4B49-848F-16D21E7CC332}" destId="{F33EB5C2-2F05-400C-96B8-7319E8A1D44E}" srcOrd="0" destOrd="0" presId="urn:microsoft.com/office/officeart/2005/8/layout/process2"/>
    <dgm:cxn modelId="{1E285E05-575F-490E-AF47-C2E1BE16E085}" type="presParOf" srcId="{5574CCEC-711A-42DD-BC5F-73D1B166C6E1}" destId="{988A5230-270D-4037-80D1-5F20D82E1308}" srcOrd="4" destOrd="0" presId="urn:microsoft.com/office/officeart/2005/8/layout/process2"/>
    <dgm:cxn modelId="{A7E48E76-8867-4714-B048-FD678BBD51ED}" type="presParOf" srcId="{5574CCEC-711A-42DD-BC5F-73D1B166C6E1}" destId="{4A3C53A5-DFA8-4FD2-AC80-13598C9B6764}" srcOrd="5" destOrd="0" presId="urn:microsoft.com/office/officeart/2005/8/layout/process2"/>
    <dgm:cxn modelId="{1D8909C3-1342-45AD-ACBA-FCD7BE599FB5}" type="presParOf" srcId="{4A3C53A5-DFA8-4FD2-AC80-13598C9B6764}" destId="{BD9160A4-4089-423A-9335-F7DED7FAA5BE}" srcOrd="0" destOrd="0" presId="urn:microsoft.com/office/officeart/2005/8/layout/process2"/>
    <dgm:cxn modelId="{1E3DBFA2-D8A8-4DBC-8E69-0B75CE6AD6DF}" type="presParOf" srcId="{5574CCEC-711A-42DD-BC5F-73D1B166C6E1}" destId="{C58B38D9-14AD-4ABA-9BC6-4E945AB3294F}" srcOrd="6" destOrd="0" presId="urn:microsoft.com/office/officeart/2005/8/layout/process2"/>
    <dgm:cxn modelId="{2D8D15AF-A946-4130-B64E-359E53E6FD29}" type="presParOf" srcId="{5574CCEC-711A-42DD-BC5F-73D1B166C6E1}" destId="{9D27F6B4-D00D-4F80-A452-330520B483CD}" srcOrd="7" destOrd="0" presId="urn:microsoft.com/office/officeart/2005/8/layout/process2"/>
    <dgm:cxn modelId="{EA159404-66BB-4525-951D-E74594A0FD85}" type="presParOf" srcId="{9D27F6B4-D00D-4F80-A452-330520B483CD}" destId="{E560A526-8CD4-4BF5-B87F-D5F8F9329D80}" srcOrd="0" destOrd="0" presId="urn:microsoft.com/office/officeart/2005/8/layout/process2"/>
    <dgm:cxn modelId="{6A2710B7-4CD2-4DBE-AA51-1397D012D9AB}" type="presParOf" srcId="{5574CCEC-711A-42DD-BC5F-73D1B166C6E1}" destId="{BF95AFFD-8018-433A-B88C-AF795D81CDCF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57DCFD-04C1-469A-AD36-6057DE3A93DC}">
      <dsp:nvSpPr>
        <dsp:cNvPr id="0" name=""/>
        <dsp:cNvSpPr/>
      </dsp:nvSpPr>
      <dsp:spPr>
        <a:xfrm>
          <a:off x="1584419" y="595"/>
          <a:ext cx="2737439" cy="6963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>
              <a:latin typeface="Arial"/>
            </a:rPr>
            <a:t>Initialisation</a:t>
          </a:r>
          <a:r>
            <a:rPr lang="fr-FR" sz="1500" b="0" i="0" u="none" strike="noStrike" kern="1200" cap="none" baseline="0" noProof="0">
              <a:solidFill>
                <a:schemeClr val="bg1"/>
              </a:solidFill>
              <a:latin typeface="Arial"/>
              <a:cs typeface="Arial"/>
            </a:rPr>
            <a:t> (Essaim de points aléatoires dans le domaine)</a:t>
          </a:r>
        </a:p>
      </dsp:txBody>
      <dsp:txXfrm>
        <a:off x="1604814" y="20990"/>
        <a:ext cx="2696649" cy="655538"/>
      </dsp:txXfrm>
    </dsp:sp>
    <dsp:sp modelId="{76C3D46D-98DD-452B-817E-27C58998363B}">
      <dsp:nvSpPr>
        <dsp:cNvPr id="0" name=""/>
        <dsp:cNvSpPr/>
      </dsp:nvSpPr>
      <dsp:spPr>
        <a:xfrm rot="5400000">
          <a:off x="2822577" y="714331"/>
          <a:ext cx="261123" cy="3133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 rot="-5400000">
        <a:off x="2859135" y="740443"/>
        <a:ext cx="188009" cy="182786"/>
      </dsp:txXfrm>
    </dsp:sp>
    <dsp:sp modelId="{0AD5D1FA-A840-4596-982B-2F3EF197892E}">
      <dsp:nvSpPr>
        <dsp:cNvPr id="0" name=""/>
        <dsp:cNvSpPr/>
      </dsp:nvSpPr>
      <dsp:spPr>
        <a:xfrm>
          <a:off x="1584419" y="1045087"/>
          <a:ext cx="2737439" cy="6963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>
              <a:latin typeface="Arial"/>
            </a:rPr>
            <a:t>Calcul position et vitesse</a:t>
          </a:r>
        </a:p>
      </dsp:txBody>
      <dsp:txXfrm>
        <a:off x="1604814" y="1065482"/>
        <a:ext cx="2696649" cy="655538"/>
      </dsp:txXfrm>
    </dsp:sp>
    <dsp:sp modelId="{8E4F097F-E324-4B49-848F-16D21E7CC332}">
      <dsp:nvSpPr>
        <dsp:cNvPr id="0" name=""/>
        <dsp:cNvSpPr/>
      </dsp:nvSpPr>
      <dsp:spPr>
        <a:xfrm rot="5400000">
          <a:off x="2822577" y="1758823"/>
          <a:ext cx="261123" cy="3133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 rot="-5400000">
        <a:off x="2859135" y="1784935"/>
        <a:ext cx="188009" cy="182786"/>
      </dsp:txXfrm>
    </dsp:sp>
    <dsp:sp modelId="{988A5230-270D-4037-80D1-5F20D82E1308}">
      <dsp:nvSpPr>
        <dsp:cNvPr id="0" name=""/>
        <dsp:cNvSpPr/>
      </dsp:nvSpPr>
      <dsp:spPr>
        <a:xfrm>
          <a:off x="1584419" y="2089579"/>
          <a:ext cx="2737439" cy="6963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>
              <a:latin typeface="Arial" panose="020B0604020202020204" pitchFamily="34" charset="0"/>
              <a:cs typeface="Arial" panose="020B0604020202020204" pitchFamily="34" charset="0"/>
            </a:rPr>
            <a:t>Vérification de la stabilité </a:t>
          </a:r>
        </a:p>
      </dsp:txBody>
      <dsp:txXfrm>
        <a:off x="1604814" y="2109974"/>
        <a:ext cx="2696649" cy="655538"/>
      </dsp:txXfrm>
    </dsp:sp>
    <dsp:sp modelId="{4A3C53A5-DFA8-4FD2-AC80-13598C9B6764}">
      <dsp:nvSpPr>
        <dsp:cNvPr id="0" name=""/>
        <dsp:cNvSpPr/>
      </dsp:nvSpPr>
      <dsp:spPr>
        <a:xfrm rot="5400000">
          <a:off x="2822577" y="2803315"/>
          <a:ext cx="261123" cy="3133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 rot="-5400000">
        <a:off x="2859135" y="2829427"/>
        <a:ext cx="188009" cy="182786"/>
      </dsp:txXfrm>
    </dsp:sp>
    <dsp:sp modelId="{C58B38D9-14AD-4ABA-9BC6-4E945AB3294F}">
      <dsp:nvSpPr>
        <dsp:cNvPr id="0" name=""/>
        <dsp:cNvSpPr/>
      </dsp:nvSpPr>
      <dsp:spPr>
        <a:xfrm>
          <a:off x="1584419" y="3134071"/>
          <a:ext cx="2737439" cy="6963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>
              <a:latin typeface="Arial"/>
            </a:rPr>
            <a:t>Evaluation des solutions trouvées</a:t>
          </a:r>
          <a:endParaRPr lang="fr-FR" sz="1500" kern="1200"/>
        </a:p>
      </dsp:txBody>
      <dsp:txXfrm>
        <a:off x="1604814" y="3154466"/>
        <a:ext cx="2696649" cy="655538"/>
      </dsp:txXfrm>
    </dsp:sp>
    <dsp:sp modelId="{9D27F6B4-D00D-4F80-A452-330520B483CD}">
      <dsp:nvSpPr>
        <dsp:cNvPr id="0" name=""/>
        <dsp:cNvSpPr/>
      </dsp:nvSpPr>
      <dsp:spPr>
        <a:xfrm rot="5400000">
          <a:off x="2822577" y="3847807"/>
          <a:ext cx="261123" cy="3133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 rot="-5400000">
        <a:off x="2859135" y="3873919"/>
        <a:ext cx="188009" cy="182786"/>
      </dsp:txXfrm>
    </dsp:sp>
    <dsp:sp modelId="{BF95AFFD-8018-433A-B88C-AF795D81CDCF}">
      <dsp:nvSpPr>
        <dsp:cNvPr id="0" name=""/>
        <dsp:cNvSpPr/>
      </dsp:nvSpPr>
      <dsp:spPr>
        <a:xfrm>
          <a:off x="1584419" y="4178563"/>
          <a:ext cx="2737439" cy="6963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>
              <a:latin typeface="Arial"/>
            </a:rPr>
            <a:t>Sortie d'un front de Pareto</a:t>
          </a:r>
        </a:p>
      </dsp:txBody>
      <dsp:txXfrm>
        <a:off x="1604814" y="4198958"/>
        <a:ext cx="2696649" cy="6555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C2451B6-D275-48C3-ACDF-D61BB7CC1A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024FE9-DFD0-468E-B027-2586FA8655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4339FD-5962-4B66-B5C0-A8971F666068}" type="datetimeFigureOut">
              <a:rPr lang="fr-FR" smtClean="0"/>
              <a:t>11/04/2022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7B24BB-54E0-469A-A371-0A08304474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394250-F98F-4477-8E22-F000FE380D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28B0B-7960-4603-85F2-C63C25006B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7328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64376C-F842-584E-9B47-7B2714CA3D1D}" type="datetimeFigureOut">
              <a:rPr lang="fr-FR" smtClean="0"/>
              <a:t>11/04/2022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A6857-0279-7B4B-AE9C-32F6C09E50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82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Crouet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797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Crouet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712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Crouet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80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Crouet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0977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Crouet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1496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Lola</a:t>
            </a:r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3904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Lola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6622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Lola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0867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>
                <a:effectLst/>
                <a:latin typeface="Arial" panose="020B0604020202020204" pitchFamily="34" charset="0"/>
              </a:rPr>
              <a:t>Lola</a:t>
            </a:r>
          </a:p>
          <a:p>
            <a:r>
              <a:rPr lang="fr-FR" b="0" i="0">
                <a:effectLst/>
                <a:latin typeface="Arial" panose="020B0604020202020204" pitchFamily="34" charset="0"/>
              </a:rPr>
              <a:t>L’architecture de l’EPS-A3 étant symétrique, nous pouvons considérer seulement la</a:t>
            </a:r>
            <a:br>
              <a:rPr lang="fr-FR"/>
            </a:br>
            <a:r>
              <a:rPr lang="fr-FR" b="0" i="0">
                <a:effectLst/>
                <a:latin typeface="Arial" panose="020B0604020202020204" pitchFamily="34" charset="0"/>
              </a:rPr>
              <a:t>moitié du système dans cette analyse. Puisque la tension générée par le générateur </a:t>
            </a:r>
            <a:r>
              <a:rPr lang="fr-FR" b="0" i="0" err="1">
                <a:effectLst/>
                <a:latin typeface="Arial" panose="020B0604020202020204" pitchFamily="34" charset="0"/>
              </a:rPr>
              <a:t>syn</a:t>
            </a:r>
            <a:r>
              <a:rPr lang="fr-FR" b="0" i="0">
                <a:effectLst/>
                <a:latin typeface="Arial" panose="020B0604020202020204" pitchFamily="34" charset="0"/>
              </a:rPr>
              <a:t>-</a:t>
            </a:r>
            <a:br>
              <a:rPr lang="fr-FR"/>
            </a:br>
            <a:r>
              <a:rPr lang="fr-FR" b="0" i="0" err="1">
                <a:effectLst/>
                <a:latin typeface="Arial" panose="020B0604020202020204" pitchFamily="34" charset="0"/>
              </a:rPr>
              <a:t>chrone</a:t>
            </a:r>
            <a:r>
              <a:rPr lang="fr-FR" b="0" i="0">
                <a:effectLst/>
                <a:latin typeface="Arial" panose="020B0604020202020204" pitchFamily="34" charset="0"/>
              </a:rPr>
              <a:t> (SG) est redressée par l’ATRU et régulée par l’unité de contrôle du générateur</a:t>
            </a:r>
            <a:br>
              <a:rPr lang="fr-FR"/>
            </a:br>
            <a:r>
              <a:rPr lang="fr-FR" b="0" i="0">
                <a:effectLst/>
                <a:latin typeface="Arial" panose="020B0604020202020204" pitchFamily="34" charset="0"/>
              </a:rPr>
              <a:t>(GCU), elle peut être considérée comme constante et égale à Ve = 540V .</a:t>
            </a:r>
            <a:br>
              <a:rPr lang="fr-FR"/>
            </a:br>
            <a:r>
              <a:rPr lang="fr-FR" b="0" i="0">
                <a:effectLst/>
                <a:latin typeface="Arial" panose="020B0604020202020204" pitchFamily="34" charset="0"/>
              </a:rPr>
              <a:t>La charge à puissance constante (CPL) est modélisée comme une source de courant</a:t>
            </a:r>
            <a:br>
              <a:rPr lang="fr-FR"/>
            </a:br>
            <a:r>
              <a:rPr lang="fr-FR" b="0" i="0">
                <a:effectLst/>
                <a:latin typeface="Arial" panose="020B0604020202020204" pitchFamily="34" charset="0"/>
              </a:rPr>
              <a:t>à puissance constante dont la valeur (</a:t>
            </a:r>
            <a:r>
              <a:rPr lang="fr-FR" b="0" i="0" err="1">
                <a:effectLst/>
                <a:latin typeface="Arial" panose="020B0604020202020204" pitchFamily="34" charset="0"/>
              </a:rPr>
              <a:t>iCPL</a:t>
            </a:r>
            <a:r>
              <a:rPr lang="fr-FR" b="0" i="0">
                <a:effectLst/>
                <a:latin typeface="Arial" panose="020B0604020202020204" pitchFamily="34" charset="0"/>
              </a:rPr>
              <a:t>) est égale à la puissance des charges (PCPL)</a:t>
            </a:r>
            <a:br>
              <a:rPr lang="fr-FR"/>
            </a:br>
            <a:r>
              <a:rPr lang="fr-FR" b="0" i="0">
                <a:effectLst/>
                <a:latin typeface="Arial" panose="020B0604020202020204" pitchFamily="34" charset="0"/>
              </a:rPr>
              <a:t>divisée par la tension du bus (VDC). Le comportement CPL apparaît lorsqu’il y a un</a:t>
            </a:r>
            <a:br>
              <a:rPr lang="fr-FR"/>
            </a:br>
            <a:r>
              <a:rPr lang="fr-FR" b="0" i="0">
                <a:effectLst/>
                <a:latin typeface="Arial" panose="020B0604020202020204" pitchFamily="34" charset="0"/>
              </a:rPr>
              <a:t>élément qui régule la consommation d’énergie de la charge [6].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5468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Alej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5916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Alej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1688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Alej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1086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Alej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8715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Max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75180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Max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49186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Max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8707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Frémy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9227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19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76998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Alej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0966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Alej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79392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Alej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0646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Fremy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6079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Fremy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43094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Frémy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9861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Max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85979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Max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6236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Max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0572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Frémy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9825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Lola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06207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Lola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79090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Lola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A6857-0279-7B4B-AE9C-32F6C09E506D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454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EA535-BEB2-428D-BEBF-E345AC0B8403}" type="datetime1">
              <a:rPr lang="fr-FR" smtClean="0"/>
              <a:t>11/04/2022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Modélisation/Optimisation électrique d'un avion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72F16-C009-473D-935B-65398F3FFAF5}" type="datetime1">
              <a:rPr lang="fr-FR" smtClean="0"/>
              <a:t>11/04/2022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Modélisation/Optimisation électrique d'un avion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776C-5BD0-4760-ADF0-422A0E7DD0A6}" type="datetime1">
              <a:rPr lang="fr-FR" smtClean="0"/>
              <a:t>11/04/2022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Modélisation/Optimisation électrique d'un avion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9A18-CA20-4989-81E9-AB3B3153E064}" type="datetime1">
              <a:rPr lang="fr-FR" smtClean="0"/>
              <a:t>11/04/2022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Modélisation/Optimisation électrique d'un avion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DB23C-E370-493F-8D08-0A0D4760851C}" type="datetime1">
              <a:rPr lang="fr-FR" smtClean="0"/>
              <a:t>11/04/2022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Modélisation/Optimisation électrique d'un avion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6EE5-42B9-4F4A-879D-3677AC36EF20}" type="datetime1">
              <a:rPr lang="fr-FR" smtClean="0"/>
              <a:t>11/04/2022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Modélisation/Optimisation électrique d'un avion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A827D-06C6-4337-9859-7C0FD17FF152}" type="datetime1">
              <a:rPr lang="fr-FR" smtClean="0"/>
              <a:t>11/04/2022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Modélisation/Optimisation électrique d'un avion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D9195-38B1-4DB4-BE8F-22A2AA2414CB}" type="datetime1">
              <a:rPr lang="fr-FR" smtClean="0"/>
              <a:t>11/04/2022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Modélisation/Optimisation électrique d'un avion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9C6E6-F953-41D3-B53B-5F55C5356AFF}" type="datetime1">
              <a:rPr lang="fr-FR" smtClean="0"/>
              <a:t>11/04/2022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Modélisation/Optimisation électrique d'un avion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20A44-85F2-4990-B9E1-30399AF66601}" type="datetime1">
              <a:rPr lang="fr-FR" smtClean="0"/>
              <a:t>11/04/2022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Modélisation/Optimisation électrique d'un avion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E4C0-75E8-4ECF-A98B-584C4BF76023}" type="datetime1">
              <a:rPr lang="fr-FR" smtClean="0"/>
              <a:t>11/04/2022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Modélisation/Optimisation électrique d'un avion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25282-EB22-4073-90A4-9F330461F824}" type="datetime1">
              <a:rPr lang="fr-FR" smtClean="0"/>
              <a:t>11/04/2022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Modélisation/Optimisation électrique d'un avion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2C66AD-2A7B-1645-8D5F-0A62AEDA6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1171497"/>
          </a:xfrm>
        </p:spPr>
        <p:txBody>
          <a:bodyPr>
            <a:normAutofit/>
          </a:bodyPr>
          <a:lstStyle/>
          <a:p>
            <a:r>
              <a:rPr lang="fr-FR" sz="3200" b="1">
                <a:solidFill>
                  <a:srgbClr val="0070C0"/>
                </a:solidFill>
              </a:rPr>
              <a:t>Modélisation et Optimisation d’une structure électrique d’un avion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A575DB-96E8-694C-A59E-2FEDC62F0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A. </a:t>
            </a:r>
            <a:r>
              <a:rPr lang="fr-FR" err="1"/>
              <a:t>Roa</a:t>
            </a:r>
            <a:r>
              <a:rPr lang="fr-FR"/>
              <a:t> </a:t>
            </a:r>
            <a:r>
              <a:rPr lang="fr-FR" err="1"/>
              <a:t>Quintero</a:t>
            </a:r>
            <a:r>
              <a:rPr lang="fr-FR"/>
              <a:t>, L. Escande, B. Frémy, </a:t>
            </a:r>
          </a:p>
          <a:p>
            <a:r>
              <a:rPr lang="fr-FR"/>
              <a:t>A. Crouet-Gouyon, M. Robin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0F5B67-0023-1D4A-85CA-BCD309500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entraleSupélec - Wikipedia">
            <a:extLst>
              <a:ext uri="{FF2B5EF4-FFF2-40B4-BE49-F238E27FC236}">
                <a16:creationId xmlns:a16="http://schemas.microsoft.com/office/drawing/2014/main" id="{3732A6E8-BAF2-3145-954F-34E8E1FCB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3842" y="192690"/>
            <a:ext cx="2613285" cy="133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é Paris-Saclay">
            <a:extLst>
              <a:ext uri="{FF2B5EF4-FFF2-40B4-BE49-F238E27FC236}">
                <a16:creationId xmlns:a16="http://schemas.microsoft.com/office/drawing/2014/main" id="{4124C9D3-8ADB-A847-BC7C-D16ABE9F9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89" y="5112122"/>
            <a:ext cx="4118235" cy="142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entre national de la recherche scientifique — Wikipédia">
            <a:extLst>
              <a:ext uri="{FF2B5EF4-FFF2-40B4-BE49-F238E27FC236}">
                <a16:creationId xmlns:a16="http://schemas.microsoft.com/office/drawing/2014/main" id="{BB5A5C22-9183-B44E-B9AE-81564B8A1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849" y="5243174"/>
            <a:ext cx="1478301" cy="147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F2C1D687-2388-4EF4-8CA9-EC8A7A208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988" y="5457217"/>
            <a:ext cx="4198284" cy="899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367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46B66367-766A-564B-884A-8BA525502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6000" y="2036826"/>
            <a:ext cx="8640000" cy="5724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Sommaire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229870" indent="-571500" algn="ctr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/>
              </a:rPr>
              <a:t>Introduction / </a:t>
            </a:r>
            <a:r>
              <a:rPr lang="en-GB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/>
              </a:rPr>
              <a:t>Contexte</a:t>
            </a:r>
            <a:endParaRPr lang="en-GB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/>
            </a:endParaRPr>
          </a:p>
          <a:p>
            <a:pPr marL="229870" indent="-571500" algn="ctr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/>
              </a:rPr>
              <a:t>Description du </a:t>
            </a:r>
            <a:r>
              <a:rPr lang="en-GB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/>
              </a:rPr>
              <a:t>modèle</a:t>
            </a:r>
            <a:r>
              <a:rPr lang="en-GB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/>
              </a:rPr>
              <a:t> </a:t>
            </a:r>
            <a:r>
              <a:rPr lang="en-GB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/>
              </a:rPr>
              <a:t>théorique</a:t>
            </a:r>
            <a:endParaRPr lang="en-GB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/>
            </a:endParaRPr>
          </a:p>
          <a:p>
            <a:pPr marL="229870" indent="-571500" algn="ctr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/>
              </a:rPr>
              <a:t>Optimisation</a:t>
            </a:r>
          </a:p>
          <a:p>
            <a:pPr marL="229870" indent="-571500" algn="ctr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/>
              </a:rPr>
              <a:t>Simulations &amp; </a:t>
            </a:r>
            <a:r>
              <a:rPr lang="en-GB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/>
              </a:rPr>
              <a:t>résultats</a:t>
            </a:r>
            <a:endParaRPr lang="en-GB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/>
            </a:endParaRPr>
          </a:p>
          <a:p>
            <a:pPr marL="229870" indent="-571500" algn="ctr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/>
              </a:rPr>
              <a:t>Conclusion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C96F6AC-E0A8-0340-AAC5-52B2712AD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63CB85-15F6-D640-ADDE-D95F5437F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</a:t>
            </a:fld>
            <a:endParaRPr lang="fr-FR"/>
          </a:p>
        </p:txBody>
      </p:sp>
      <p:pic>
        <p:nvPicPr>
          <p:cNvPr id="8" name="Picture 4" descr="CentraleSupélec - Wikipedia">
            <a:extLst>
              <a:ext uri="{FF2B5EF4-FFF2-40B4-BE49-F238E27FC236}">
                <a16:creationId xmlns:a16="http://schemas.microsoft.com/office/drawing/2014/main" id="{B1C9E262-AF56-EC41-BB11-3CE0781AA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149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C53B0689-7D03-F04C-8341-6FE0A9701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0300" y="1134000"/>
            <a:ext cx="8640000" cy="5724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b="1">
                <a:solidFill>
                  <a:srgbClr val="0070C0"/>
                </a:solidFill>
                <a:ea typeface="Lucida Sans Unicode" charset="0"/>
                <a:cs typeface="Lucida Sans Unicode"/>
              </a:rPr>
              <a:t>I. Introduction / </a:t>
            </a:r>
            <a:r>
              <a:rPr lang="en-US" altLang="ja-JP" sz="3200" b="1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Contexte</a:t>
            </a:r>
            <a:endParaRPr lang="en-US" altLang="ja-JP" sz="3200" b="1">
              <a:solidFill>
                <a:srgbClr val="0070C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Introduction aux MEA</a:t>
            </a: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FontTx/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Problématique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et Objectif</a:t>
            </a: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7074F0C-6878-734A-BE4D-EF1776C63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423A36-8A2D-5249-8DE8-6E2E4B8A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</a:t>
            </a:fld>
            <a:endParaRPr lang="fr-FR"/>
          </a:p>
        </p:txBody>
      </p:sp>
      <p:pic>
        <p:nvPicPr>
          <p:cNvPr id="8" name="Picture 4" descr="CentraleSupélec - Wikipedia">
            <a:extLst>
              <a:ext uri="{FF2B5EF4-FFF2-40B4-BE49-F238E27FC236}">
                <a16:creationId xmlns:a16="http://schemas.microsoft.com/office/drawing/2014/main" id="{E7E6D253-76D3-3543-A2DE-18A8E90C0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462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Aerospace / Defence &amp; Security | TRONICO">
            <a:extLst>
              <a:ext uri="{FF2B5EF4-FFF2-40B4-BE49-F238E27FC236}">
                <a16:creationId xmlns:a16="http://schemas.microsoft.com/office/drawing/2014/main" id="{12411997-835B-3441-93A2-51F469784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8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930" y="2613937"/>
            <a:ext cx="4265036" cy="387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C1C82F-09A9-9340-A3F4-2387AA790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/>
              <a:t>Utilisation de puissance électrique pour tous les systèmes non-propulsifs (pneumatique, hydraulique, mécaniques…)</a:t>
            </a:r>
          </a:p>
          <a:p>
            <a:pPr marL="0" indent="0">
              <a:buNone/>
            </a:pPr>
            <a:endParaRPr lang="fr-FR"/>
          </a:p>
          <a:p>
            <a:pPr marL="0" indent="0">
              <a:buNone/>
            </a:pPr>
            <a:r>
              <a:rPr lang="fr-FR"/>
              <a:t>	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CBFC609-CADF-8344-A67C-E88431459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47BD4CF2-26BF-3740-A4C4-6671D0815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1">
                <a:solidFill>
                  <a:srgbClr val="0070C0"/>
                </a:solidFill>
              </a:rPr>
              <a:t>Introduction aux MEA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507191-D938-7448-9D8B-044A8A51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4</a:t>
            </a:fld>
            <a:endParaRPr lang="fr-FR"/>
          </a:p>
        </p:txBody>
      </p:sp>
      <p:pic>
        <p:nvPicPr>
          <p:cNvPr id="8" name="Picture 4" descr="CentraleSupélec - Wikipedia">
            <a:extLst>
              <a:ext uri="{FF2B5EF4-FFF2-40B4-BE49-F238E27FC236}">
                <a16:creationId xmlns:a16="http://schemas.microsoft.com/office/drawing/2014/main" id="{480CC8B5-A9A9-A442-9BFD-875B94712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81D5BB3A-1CFD-0A45-BBE5-BF0FC0C41F17}"/>
              </a:ext>
            </a:extLst>
          </p:cNvPr>
          <p:cNvSpPr txBox="1">
            <a:spLocks/>
          </p:cNvSpPr>
          <p:nvPr/>
        </p:nvSpPr>
        <p:spPr>
          <a:xfrm>
            <a:off x="838200" y="3053367"/>
            <a:ext cx="6462010" cy="34395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000"/>
              <a:t>Objectif : apporter des améliorations significatives en termes </a:t>
            </a:r>
          </a:p>
          <a:p>
            <a:pPr marL="0" indent="0">
              <a:buNone/>
            </a:pPr>
            <a:endParaRPr lang="fr-FR"/>
          </a:p>
          <a:p>
            <a:pPr lvl="1"/>
            <a:r>
              <a:rPr lang="fr-FR" sz="2600"/>
              <a:t>poids des appareils</a:t>
            </a:r>
          </a:p>
          <a:p>
            <a:pPr lvl="1"/>
            <a:r>
              <a:rPr lang="fr-FR" sz="2600"/>
              <a:t>consommation de carburant</a:t>
            </a:r>
          </a:p>
          <a:p>
            <a:pPr lvl="1"/>
            <a:r>
              <a:rPr lang="fr-FR" sz="2600"/>
              <a:t>coût total du cycle de vie</a:t>
            </a:r>
          </a:p>
          <a:p>
            <a:pPr lvl="1"/>
            <a:r>
              <a:rPr lang="fr-FR" sz="2600"/>
              <a:t>neutralité carbone</a:t>
            </a:r>
          </a:p>
          <a:p>
            <a:pPr lvl="1"/>
            <a:r>
              <a:rPr lang="fr-FR" sz="2600"/>
              <a:t>facilité de maintenance</a:t>
            </a:r>
          </a:p>
          <a:p>
            <a:pPr lvl="1"/>
            <a:r>
              <a:rPr lang="fr-FR" sz="2600"/>
              <a:t>fiabilité des appareils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44791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>
                <a:solidFill>
                  <a:srgbClr val="0070C0"/>
                </a:solidFill>
              </a:rPr>
              <a:t>Problématique et Objectif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1C629D-B55F-5F47-B9DF-BFB02A5DF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88" y="1472291"/>
            <a:ext cx="10515600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fr-FR">
                <a:ea typeface="+mn-lt"/>
                <a:cs typeface="+mn-lt"/>
              </a:rPr>
              <a:t>Stabilisation d'un bus DC d'avion électrique </a:t>
            </a:r>
          </a:p>
          <a:p>
            <a:pPr lvl="1"/>
            <a:r>
              <a:rPr lang="fr-FR">
                <a:ea typeface="+mn-lt"/>
                <a:cs typeface="+mn-lt"/>
              </a:rPr>
              <a:t>Instabilités de tension induites par les charges à puissance constante</a:t>
            </a:r>
          </a:p>
          <a:p>
            <a:pPr marL="457200" lvl="1" indent="0">
              <a:buNone/>
            </a:pPr>
            <a:endParaRPr lang="fr-FR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>
                <a:ea typeface="+mn-lt"/>
                <a:cs typeface="+mn-lt"/>
              </a:rPr>
              <a:t>  Implémentation d'un filtre de puissance supraconducteur</a:t>
            </a:r>
          </a:p>
          <a:p>
            <a:pPr marL="0" indent="0">
              <a:buNone/>
            </a:pPr>
            <a:endParaRPr lang="fr-FR">
              <a:ea typeface="+mn-lt"/>
              <a:cs typeface="+mn-lt"/>
            </a:endParaRPr>
          </a:p>
          <a:p>
            <a:r>
              <a:rPr lang="fr-FR">
                <a:ea typeface="+mn-lt"/>
                <a:cs typeface="+mn-lt"/>
              </a:rPr>
              <a:t>Intérêt des supraconducteurs : aucune résistance en dessous du courant critique, au dessus on gagne de la stabilisation</a:t>
            </a:r>
          </a:p>
          <a:p>
            <a:pPr marL="0" indent="0">
              <a:buNone/>
            </a:pPr>
            <a:endParaRPr lang="fr-FR">
              <a:ea typeface="+mn-lt"/>
              <a:cs typeface="+mn-lt"/>
            </a:endParaRPr>
          </a:p>
          <a:p>
            <a:pPr marL="0" indent="0">
              <a:buNone/>
            </a:pPr>
            <a:r>
              <a:rPr lang="fr-FR">
                <a:ea typeface="+mn-lt"/>
                <a:cs typeface="+mn-lt"/>
              </a:rPr>
              <a:t> On va donc chercher à optimiser les paramètres de ce filtre </a:t>
            </a:r>
          </a:p>
          <a:p>
            <a:pPr marL="0" indent="0">
              <a:buNone/>
            </a:pPr>
            <a:br>
              <a:rPr lang="fr-FR">
                <a:ea typeface="+mn-lt"/>
                <a:cs typeface="+mn-lt"/>
              </a:rPr>
            </a:br>
            <a:endParaRPr lang="fr-FR">
              <a:ea typeface="+mn-lt"/>
              <a:cs typeface="+mn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5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DE45BDA0-2CBD-42D8-0B21-380A180EF29B}"/>
              </a:ext>
            </a:extLst>
          </p:cNvPr>
          <p:cNvSpPr/>
          <p:nvPr/>
        </p:nvSpPr>
        <p:spPr>
          <a:xfrm>
            <a:off x="190023" y="2359342"/>
            <a:ext cx="416944" cy="4456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D8A002ED-E569-4B5A-BAC8-B96843A0BC31}"/>
              </a:ext>
            </a:extLst>
          </p:cNvPr>
          <p:cNvSpPr/>
          <p:nvPr/>
        </p:nvSpPr>
        <p:spPr>
          <a:xfrm>
            <a:off x="190023" y="4255679"/>
            <a:ext cx="416944" cy="4456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A3302D-A41D-425F-A719-0EEE566B3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7436" y="4679950"/>
            <a:ext cx="311467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7488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0086A17-08E4-4B59-9154-4C441F40E5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7992" y="2280233"/>
            <a:ext cx="9256015" cy="3055005"/>
          </a:xfr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8654D7B6-201D-7A4A-9452-FCAC72715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E5A04CA5-0773-7842-8ACE-EDDF85F7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633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1">
                <a:solidFill>
                  <a:srgbClr val="0070C0"/>
                </a:solidFill>
              </a:rPr>
              <a:t>Plusieurs architectures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E485AC-7A89-E749-B0A4-A94F0B079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6</a:t>
            </a:fld>
            <a:endParaRPr lang="fr-FR"/>
          </a:p>
        </p:txBody>
      </p:sp>
      <p:pic>
        <p:nvPicPr>
          <p:cNvPr id="8" name="Picture 4" descr="CentraleSupélec - Wikipedia">
            <a:extLst>
              <a:ext uri="{FF2B5EF4-FFF2-40B4-BE49-F238E27FC236}">
                <a16:creationId xmlns:a16="http://schemas.microsoft.com/office/drawing/2014/main" id="{B74EAA04-0A09-F347-9724-F779BE8D5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23D04F9-4066-4DA4-8DF5-D3385A58A29F}"/>
              </a:ext>
            </a:extLst>
          </p:cNvPr>
          <p:cNvSpPr txBox="1"/>
          <p:nvPr/>
        </p:nvSpPr>
        <p:spPr>
          <a:xfrm>
            <a:off x="3850105" y="1909011"/>
            <a:ext cx="5117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/>
              <a:t>Tableau 1 </a:t>
            </a:r>
            <a:r>
              <a:rPr lang="fr-FR"/>
              <a:t>– Synthèse sur la classification des EPS</a:t>
            </a:r>
          </a:p>
        </p:txBody>
      </p:sp>
      <p:sp>
        <p:nvSpPr>
          <p:cNvPr id="10" name="CuadroTexto 12">
            <a:extLst>
              <a:ext uri="{FF2B5EF4-FFF2-40B4-BE49-F238E27FC236}">
                <a16:creationId xmlns:a16="http://schemas.microsoft.com/office/drawing/2014/main" id="{394A3A9B-1EE5-4DAE-AFB8-55BA6D243506}"/>
              </a:ext>
            </a:extLst>
          </p:cNvPr>
          <p:cNvSpPr txBox="1"/>
          <p:nvPr/>
        </p:nvSpPr>
        <p:spPr>
          <a:xfrm>
            <a:off x="125759" y="5779218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[1] C. Wang, J. Chen, J. Chen. </a:t>
            </a:r>
            <a:r>
              <a:rPr lang="en-GB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Investigation on the selection of electric power system architecture for future more electric aircraft. </a:t>
            </a:r>
            <a:r>
              <a:rPr lang="en-GB" sz="1000" i="1">
                <a:effectLst/>
                <a:latin typeface="SFTI1200"/>
                <a:ea typeface="Times New Roman" panose="02020603050405020304" pitchFamily="18" charset="0"/>
                <a:cs typeface="SFTI1200"/>
              </a:rPr>
              <a:t>IEEE Transactions on Transportation Electrification</a:t>
            </a:r>
            <a:r>
              <a:rPr lang="en-GB" sz="1000" i="1">
                <a:effectLst/>
                <a:latin typeface="SFRM1200"/>
                <a:ea typeface="Times New Roman" panose="02020603050405020304" pitchFamily="18" charset="0"/>
                <a:cs typeface="SFRM1200"/>
              </a:rPr>
              <a:t>, 4(2) :</a:t>
            </a:r>
            <a:r>
              <a:rPr lang="en-GB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563–576, 2018.</a:t>
            </a:r>
            <a:endParaRPr lang="en-US" altLang="ja-JP" sz="10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r>
              <a:rPr lang="es-ES" sz="1000">
                <a:latin typeface="SFRM1200"/>
              </a:rPr>
              <a:t>[2] </a:t>
            </a:r>
            <a:r>
              <a:rPr lang="fr-FR" sz="1000">
                <a:latin typeface="SFRM1200"/>
              </a:rPr>
              <a:t>O. Langlois, E. Foch, " De l’avion plus électrique à l’avion tout électrique : état de l’art et prospective sur les réseaux de bord," Journal sur l’enseignement des sciences et technologies de l’information et des systèmes, Volume 4, Hors-Série 1, 1 (2005)</a:t>
            </a:r>
            <a:endParaRPr lang="es-ES" sz="1000">
              <a:latin typeface="SFRM1200"/>
            </a:endParaRPr>
          </a:p>
        </p:txBody>
      </p:sp>
    </p:spTree>
    <p:extLst>
      <p:ext uri="{BB962C8B-B14F-4D97-AF65-F5344CB8AC3E}">
        <p14:creationId xmlns:p14="http://schemas.microsoft.com/office/powerpoint/2010/main" val="2022009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82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1">
                <a:solidFill>
                  <a:srgbClr val="0070C0"/>
                </a:solidFill>
              </a:rPr>
              <a:t>Justification du choix d’architecture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1C629D-B55F-5F47-B9DF-BFB02A5DF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06" y="1921877"/>
            <a:ext cx="704244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ClrTx/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BE" altLang="ja-JP" sz="2800">
                <a:solidFill>
                  <a:srgbClr val="000000"/>
                </a:solidFill>
                <a:ea typeface="Lucida Sans Unicode" charset="0"/>
                <a:cs typeface="Lucida Sans Unicode"/>
              </a:rPr>
              <a:t>Critères d’évaluation :</a:t>
            </a: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BE" altLang="ja-JP" sz="28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BE" altLang="ja-JP" sz="2800">
                <a:solidFill>
                  <a:srgbClr val="000000"/>
                </a:solidFill>
                <a:ea typeface="Lucida Sans Unicode" charset="0"/>
                <a:cs typeface="Lucida Sans Unicode"/>
              </a:rPr>
              <a:t>Masse embarquée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BE" altLang="ja-JP" sz="2800">
                <a:solidFill>
                  <a:srgbClr val="000000"/>
                </a:solidFill>
                <a:ea typeface="Lucida Sans Unicode" charset="0"/>
                <a:cs typeface="Lucida Sans Unicode"/>
              </a:rPr>
              <a:t>En relation avec les coûts des composants et du carburant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BE" altLang="ja-JP" sz="2800">
                <a:solidFill>
                  <a:srgbClr val="000000"/>
                </a:solidFill>
                <a:ea typeface="Lucida Sans Unicode" charset="0"/>
                <a:cs typeface="Lucida Sans Unicode"/>
              </a:rPr>
              <a:t>Correspondance avec les critères exigeants de l’industrie en manière de sûreté et de fiabilité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BE" altLang="ja-JP" sz="2800">
                <a:solidFill>
                  <a:srgbClr val="000000"/>
                </a:solidFill>
                <a:ea typeface="Lucida Sans Unicode" charset="0"/>
                <a:cs typeface="Lucida Sans Unicode"/>
              </a:rPr>
              <a:t>Documentation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BE" altLang="ja-JP" sz="2800">
                <a:solidFill>
                  <a:srgbClr val="000000"/>
                </a:solidFill>
                <a:ea typeface="Lucida Sans Unicode" charset="0"/>
                <a:cs typeface="Lucida Sans Unicode"/>
              </a:rPr>
              <a:t>Accès aux valeurs concrètes utilisées dans l’industrie et critique source des résultats</a:t>
            </a:r>
            <a:endParaRPr lang="en-US" altLang="ja-JP" sz="28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endParaRPr lang="fr-FR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7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upo 2">
            <a:extLst>
              <a:ext uri="{FF2B5EF4-FFF2-40B4-BE49-F238E27FC236}">
                <a16:creationId xmlns:a16="http://schemas.microsoft.com/office/drawing/2014/main" id="{B55FD5C6-EDCC-4380-8EE5-0BBAFED9D9A7}"/>
              </a:ext>
            </a:extLst>
          </p:cNvPr>
          <p:cNvGrpSpPr/>
          <p:nvPr/>
        </p:nvGrpSpPr>
        <p:grpSpPr>
          <a:xfrm>
            <a:off x="7778393" y="2098523"/>
            <a:ext cx="4407613" cy="3293303"/>
            <a:chOff x="5271811" y="939757"/>
            <a:chExt cx="4252333" cy="3083861"/>
          </a:xfrm>
        </p:grpSpPr>
        <p:pic>
          <p:nvPicPr>
            <p:cNvPr id="10" name="Image 3" descr="Une image contenant capture d’écran&#10;&#10;Description générée avec un niveau de confiance très élevé">
              <a:extLst>
                <a:ext uri="{FF2B5EF4-FFF2-40B4-BE49-F238E27FC236}">
                  <a16:creationId xmlns:a16="http://schemas.microsoft.com/office/drawing/2014/main" id="{478E958C-2635-47CC-8E73-3EE5DC615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1811" y="939757"/>
              <a:ext cx="3397462" cy="2758940"/>
            </a:xfrm>
            <a:prstGeom prst="rect">
              <a:avLst/>
            </a:prstGeom>
          </p:spPr>
        </p:pic>
        <p:sp>
          <p:nvSpPr>
            <p:cNvPr id="11" name="CustomShape 2">
              <a:extLst>
                <a:ext uri="{FF2B5EF4-FFF2-40B4-BE49-F238E27FC236}">
                  <a16:creationId xmlns:a16="http://schemas.microsoft.com/office/drawing/2014/main" id="{CCEF3790-C010-4460-B98F-7E0CAE631F95}"/>
                </a:ext>
              </a:extLst>
            </p:cNvPr>
            <p:cNvSpPr/>
            <p:nvPr/>
          </p:nvSpPr>
          <p:spPr>
            <a:xfrm>
              <a:off x="5436803" y="3803632"/>
              <a:ext cx="4087341" cy="219986"/>
            </a:xfrm>
            <a:prstGeom prst="rect">
              <a:avLst/>
            </a:prstGeom>
            <a:noFill/>
            <a:ln>
              <a:noFill/>
            </a:ln>
            <a:effectLst>
              <a:outerShdw blurRad="5080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1440" tIns="45720" rIns="91440" bIns="45720" anchor="ctr">
              <a:noAutofit/>
            </a:bodyPr>
            <a:lstStyle/>
            <a:p>
              <a:pPr marL="635">
                <a:spcBef>
                  <a:spcPts val="360"/>
                </a:spcBef>
                <a:spcAft>
                  <a:spcPts val="601"/>
                </a:spcAft>
                <a:buClr>
                  <a:srgbClr val="00C6BB"/>
                </a:buClr>
              </a:pPr>
              <a:r>
                <a:rPr lang="fr-FR" sz="1400" b="1">
                  <a:latin typeface="SFRM1200"/>
                </a:rPr>
                <a:t>Figure 1</a:t>
              </a:r>
              <a:r>
                <a:rPr lang="fr-FR" sz="1400">
                  <a:latin typeface="SFRM1200"/>
                </a:rPr>
                <a:t> - Comparaison masse de câbles entre les architectures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327DA59-DFEB-EB4B-8643-CC95149B2415}"/>
              </a:ext>
            </a:extLst>
          </p:cNvPr>
          <p:cNvSpPr txBox="1"/>
          <p:nvPr/>
        </p:nvSpPr>
        <p:spPr>
          <a:xfrm>
            <a:off x="726216" y="6009362"/>
            <a:ext cx="8892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[1] C. Wang, J. Chen, J. Chen. </a:t>
            </a:r>
            <a:r>
              <a:rPr lang="en-GB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Investigation on the selection of electric power system architecture for future more electric aircraft. </a:t>
            </a:r>
            <a:r>
              <a:rPr lang="en-GB" sz="1000" i="1">
                <a:effectLst/>
                <a:latin typeface="SFTI1200"/>
                <a:ea typeface="Times New Roman" panose="02020603050405020304" pitchFamily="18" charset="0"/>
                <a:cs typeface="SFTI1200"/>
              </a:rPr>
              <a:t>IEEE Transactions on Transportation Electrification</a:t>
            </a:r>
            <a:r>
              <a:rPr lang="en-GB" sz="1000" i="1">
                <a:effectLst/>
                <a:latin typeface="SFRM1200"/>
                <a:ea typeface="Times New Roman" panose="02020603050405020304" pitchFamily="18" charset="0"/>
                <a:cs typeface="SFRM1200"/>
              </a:rPr>
              <a:t>, 4(2) :</a:t>
            </a:r>
            <a:r>
              <a:rPr lang="en-GB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563–576, 2018.</a:t>
            </a:r>
            <a:endParaRPr lang="en-US" altLang="ja-JP" sz="10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989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82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1">
                <a:solidFill>
                  <a:srgbClr val="0070C0"/>
                </a:solidFill>
              </a:rPr>
              <a:t>Modèle retenu – ESP-A3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8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327DA59-DFEB-EB4B-8643-CC95149B2415}"/>
              </a:ext>
            </a:extLst>
          </p:cNvPr>
          <p:cNvSpPr txBox="1"/>
          <p:nvPr/>
        </p:nvSpPr>
        <p:spPr>
          <a:xfrm>
            <a:off x="726216" y="6009362"/>
            <a:ext cx="8892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de-DE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[1] C. Wang, J. Chen, J. Chen. </a:t>
            </a:r>
            <a:r>
              <a:rPr lang="en-GB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Investigation on the selection of electric power system architecture for future more electric aircraft. </a:t>
            </a:r>
            <a:r>
              <a:rPr lang="en-GB" sz="1000" i="1">
                <a:effectLst/>
                <a:latin typeface="SFTI1200"/>
                <a:ea typeface="Times New Roman" panose="02020603050405020304" pitchFamily="18" charset="0"/>
                <a:cs typeface="SFTI1200"/>
              </a:rPr>
              <a:t>IEEE Transactions on Transportation Electrification</a:t>
            </a:r>
            <a:r>
              <a:rPr lang="en-GB" sz="1000" i="1">
                <a:effectLst/>
                <a:latin typeface="SFRM1200"/>
                <a:ea typeface="Times New Roman" panose="02020603050405020304" pitchFamily="18" charset="0"/>
                <a:cs typeface="SFRM1200"/>
              </a:rPr>
              <a:t>, 4(2) :</a:t>
            </a:r>
            <a:r>
              <a:rPr lang="en-GB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563–576, 2018.</a:t>
            </a:r>
            <a:endParaRPr lang="en-US" altLang="ja-JP" sz="10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5E8C2402-0436-CD4F-ADA6-B5B995289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216" y="2175734"/>
            <a:ext cx="3883630" cy="125326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Boeing B787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Hybride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HVAC/HVDC</a:t>
            </a: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Dans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cette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architecture, on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travaille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avec la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partie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DC,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ce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qui correspond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à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l’ATRU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 charset="0"/>
              </a:rPr>
              <a:t> (Auto Transformer Rectifier Unit)</a:t>
            </a:r>
          </a:p>
        </p:txBody>
      </p:sp>
      <p:grpSp>
        <p:nvGrpSpPr>
          <p:cNvPr id="14" name="Grupo 1">
            <a:extLst>
              <a:ext uri="{FF2B5EF4-FFF2-40B4-BE49-F238E27FC236}">
                <a16:creationId xmlns:a16="http://schemas.microsoft.com/office/drawing/2014/main" id="{1841E58C-4874-4843-B9E2-BAAC37AE249C}"/>
              </a:ext>
            </a:extLst>
          </p:cNvPr>
          <p:cNvGrpSpPr/>
          <p:nvPr/>
        </p:nvGrpSpPr>
        <p:grpSpPr>
          <a:xfrm>
            <a:off x="5661817" y="1901314"/>
            <a:ext cx="5242389" cy="3827833"/>
            <a:chOff x="3827963" y="1580081"/>
            <a:chExt cx="5242389" cy="3827833"/>
          </a:xfrm>
        </p:grpSpPr>
        <p:pic>
          <p:nvPicPr>
            <p:cNvPr id="15" name="Imagen 9">
              <a:extLst>
                <a:ext uri="{FF2B5EF4-FFF2-40B4-BE49-F238E27FC236}">
                  <a16:creationId xmlns:a16="http://schemas.microsoft.com/office/drawing/2014/main" id="{221FC84D-8027-8D44-9D04-A68824F97ABC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4062543" y="1580081"/>
              <a:ext cx="4773231" cy="3436099"/>
            </a:xfrm>
            <a:prstGeom prst="rect">
              <a:avLst/>
            </a:prstGeom>
          </p:spPr>
        </p:pic>
        <p:sp>
          <p:nvSpPr>
            <p:cNvPr id="16" name="CuadroTexto 10">
              <a:extLst>
                <a:ext uri="{FF2B5EF4-FFF2-40B4-BE49-F238E27FC236}">
                  <a16:creationId xmlns:a16="http://schemas.microsoft.com/office/drawing/2014/main" id="{133300FF-1BDB-A648-A4AD-C189B9D27D20}"/>
                </a:ext>
              </a:extLst>
            </p:cNvPr>
            <p:cNvSpPr txBox="1"/>
            <p:nvPr/>
          </p:nvSpPr>
          <p:spPr>
            <a:xfrm>
              <a:off x="3827963" y="5038582"/>
              <a:ext cx="5242389" cy="36933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tabLst>
                  <a:tab pos="34290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US" altLang="ja-JP" b="1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Figure 2</a:t>
              </a:r>
              <a:r>
                <a:rPr lang="en-US" altLang="ja-JP">
                  <a:solidFill>
                    <a:srgbClr val="000000"/>
                  </a:solidFill>
                  <a:ea typeface="Lucida Sans Unicode" charset="0"/>
                  <a:cs typeface="Lucida Sans Unicode"/>
                </a:rPr>
                <a:t> - </a:t>
              </a:r>
              <a:r>
                <a:rPr lang="fr-FR" altLang="ja-JP">
                  <a:solidFill>
                    <a:srgbClr val="000000"/>
                  </a:solidFill>
                  <a:latin typeface="SFRM1200"/>
                  <a:ea typeface="Lucida Sans Unicode" charset="0"/>
                  <a:cs typeface="Lucida Sans Unicode"/>
                </a:rPr>
                <a:t>Architecture EPS-A3 </a:t>
              </a:r>
              <a:r>
                <a:rPr lang="de-DE" sz="1800">
                  <a:effectLst/>
                  <a:latin typeface="SFRM1200"/>
                  <a:ea typeface="Times New Roman" panose="02020603050405020304" pitchFamily="18" charset="0"/>
                  <a:cs typeface="SFRM1200"/>
                </a:rPr>
                <a:t>[3]</a:t>
              </a:r>
              <a:r>
                <a:rPr lang="fr-FR" altLang="ja-JP">
                  <a:solidFill>
                    <a:srgbClr val="000000"/>
                  </a:solidFill>
                  <a:latin typeface="SFRM1200"/>
                  <a:ea typeface="Times New Roman" panose="02020603050405020304" pitchFamily="18" charset="0"/>
                  <a:cs typeface="Lucida Sans Unicode"/>
                </a:rPr>
                <a:t> </a:t>
              </a:r>
              <a:endParaRPr lang="en-US" altLang="ja-JP">
                <a:solidFill>
                  <a:srgbClr val="000000"/>
                </a:solidFill>
                <a:ea typeface="Lucida Sans Unicode" charset="0"/>
                <a:cs typeface="Lucida Sans Unicode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5468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C53B0689-7D03-F04C-8341-6FE0A9701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0300" y="1134000"/>
            <a:ext cx="8640000" cy="5724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b="1">
                <a:solidFill>
                  <a:srgbClr val="0070C0"/>
                </a:solidFill>
                <a:ea typeface="Lucida Sans Unicode" charset="0"/>
                <a:cs typeface="Lucida Sans Unicode"/>
              </a:rPr>
              <a:t>II. Description du </a:t>
            </a:r>
            <a:r>
              <a:rPr lang="en-US" altLang="ja-JP" sz="3200" b="1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modèle</a:t>
            </a:r>
            <a:r>
              <a:rPr lang="en-US" altLang="ja-JP" sz="3200" b="1">
                <a:solidFill>
                  <a:srgbClr val="0070C0"/>
                </a:solidFill>
                <a:ea typeface="Lucida Sans Unicode" charset="0"/>
                <a:cs typeface="Lucida Sans Unicode"/>
              </a:rPr>
              <a:t> </a:t>
            </a:r>
            <a:r>
              <a:rPr lang="en-US" altLang="ja-JP" sz="3200" b="1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théorique</a:t>
            </a:r>
            <a:endParaRPr lang="en-US" altLang="ja-JP" sz="3200" b="1">
              <a:solidFill>
                <a:srgbClr val="0070C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Simplification du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modèle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et description du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modèle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simplifié</a:t>
            </a: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Stabilité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du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modèle</a:t>
            </a: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Utilisation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du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supraconducteur</a:t>
            </a: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7074F0C-6878-734A-BE4D-EF1776C63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286B87C-0930-9A4B-96AA-DABAE229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9</a:t>
            </a:fld>
            <a:endParaRPr lang="fr-FR"/>
          </a:p>
        </p:txBody>
      </p:sp>
      <p:pic>
        <p:nvPicPr>
          <p:cNvPr id="6" name="Picture 4" descr="CentraleSupélec - Wikipedia">
            <a:extLst>
              <a:ext uri="{FF2B5EF4-FFF2-40B4-BE49-F238E27FC236}">
                <a16:creationId xmlns:a16="http://schemas.microsoft.com/office/drawing/2014/main" id="{DBFB2725-D936-A145-A24F-1BB24D25C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143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>
                <a:solidFill>
                  <a:srgbClr val="0070C0"/>
                </a:solidFill>
              </a:rPr>
              <a:t>Simplification du modèle et </a:t>
            </a:r>
            <a:br>
              <a:rPr lang="fr-FR" sz="3200" b="1">
                <a:solidFill>
                  <a:srgbClr val="0070C0"/>
                </a:solidFill>
              </a:rPr>
            </a:br>
            <a:r>
              <a:rPr lang="fr-FR" sz="3200" b="1">
                <a:solidFill>
                  <a:srgbClr val="0070C0"/>
                </a:solidFill>
              </a:rPr>
              <a:t>description du modèle simplifié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1C629D-B55F-5F47-B9DF-BFB02A5DF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44" y="146650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fr-FR">
                <a:ea typeface="+mn-lt"/>
                <a:cs typeface="+mn-lt"/>
              </a:rPr>
            </a:br>
            <a:endParaRPr lang="fr-FR">
              <a:ea typeface="+mn-lt"/>
              <a:cs typeface="+mn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10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86A1A5AC-7FF3-4C4D-BE17-0E12B6C37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702" y="2107662"/>
            <a:ext cx="8116976" cy="306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C726057-968D-9645-BD97-F0BCBD0E3A0F}"/>
              </a:ext>
            </a:extLst>
          </p:cNvPr>
          <p:cNvSpPr txBox="1"/>
          <p:nvPr/>
        </p:nvSpPr>
        <p:spPr>
          <a:xfrm>
            <a:off x="1245858" y="5745425"/>
            <a:ext cx="98293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b="1">
                <a:solidFill>
                  <a:srgbClr val="000000"/>
                </a:solidFill>
                <a:ea typeface="Lucida Sans Unicode" charset="0"/>
                <a:cs typeface="Lucida Sans Unicode"/>
              </a:rPr>
              <a:t>Figure 3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–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Modèle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Simplifié</a:t>
            </a:r>
            <a:endParaRPr lang="en-US" altLang="ja-JP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 algn="ctr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10" name="CuadroTexto 8">
            <a:extLst>
              <a:ext uri="{FF2B5EF4-FFF2-40B4-BE49-F238E27FC236}">
                <a16:creationId xmlns:a16="http://schemas.microsoft.com/office/drawing/2014/main" id="{7D8FAEFE-073E-A249-956A-45B8D97A1F21}"/>
              </a:ext>
            </a:extLst>
          </p:cNvPr>
          <p:cNvSpPr txBox="1"/>
          <p:nvPr/>
        </p:nvSpPr>
        <p:spPr>
          <a:xfrm>
            <a:off x="1220700" y="6092456"/>
            <a:ext cx="8892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000">
                <a:effectLst/>
                <a:latin typeface="SFRM1200"/>
                <a:ea typeface="Times New Roman" panose="02020603050405020304" pitchFamily="18" charset="0"/>
                <a:cs typeface="SFRM1200"/>
              </a:rPr>
              <a:t>[4] </a:t>
            </a:r>
            <a:r>
              <a:rPr lang="it-IT" sz="1000">
                <a:latin typeface="SFRM1200"/>
              </a:rPr>
              <a:t>M. Cupelli, </a:t>
            </a:r>
            <a:r>
              <a:rPr lang="it-IT" sz="1000" err="1">
                <a:latin typeface="SFRM1200"/>
              </a:rPr>
              <a:t>F</a:t>
            </a:r>
            <a:r>
              <a:rPr lang="it-IT" sz="1000">
                <a:latin typeface="SFRM1200"/>
              </a:rPr>
              <a:t>. Ponci, G. </a:t>
            </a:r>
            <a:r>
              <a:rPr lang="it-IT" sz="1000" err="1">
                <a:latin typeface="SFRM1200"/>
              </a:rPr>
              <a:t>Sulligoi</a:t>
            </a:r>
            <a:r>
              <a:rPr lang="it-IT" sz="1000">
                <a:latin typeface="SFRM1200"/>
              </a:rPr>
              <a:t>, A. </a:t>
            </a:r>
            <a:r>
              <a:rPr lang="it-IT" sz="1000" err="1">
                <a:latin typeface="SFRM1200"/>
              </a:rPr>
              <a:t>Vicenzutti</a:t>
            </a:r>
            <a:r>
              <a:rPr lang="it-IT" sz="1000">
                <a:latin typeface="SFRM1200"/>
              </a:rPr>
              <a:t>, C. S. </a:t>
            </a:r>
            <a:r>
              <a:rPr lang="it-IT" sz="1000" err="1">
                <a:latin typeface="SFRM1200"/>
              </a:rPr>
              <a:t>Edrington</a:t>
            </a:r>
            <a:r>
              <a:rPr lang="it-IT" sz="1000">
                <a:latin typeface="SFRM1200"/>
              </a:rPr>
              <a:t>, T. </a:t>
            </a:r>
            <a:r>
              <a:rPr lang="it-IT" sz="1000" err="1">
                <a:latin typeface="SFRM1200"/>
              </a:rPr>
              <a:t>El-Mezyani</a:t>
            </a:r>
            <a:r>
              <a:rPr lang="it-IT" sz="1000">
                <a:latin typeface="SFRM1200"/>
              </a:rPr>
              <a:t>, and A. Monti. </a:t>
            </a:r>
            <a:r>
              <a:rPr lang="en-US" sz="1000">
                <a:latin typeface="SFRM1200"/>
              </a:rPr>
              <a:t>Power flow control and network stability in an all-electric ship. Proceedings of the IEEE, </a:t>
            </a:r>
            <a:r>
              <a:rPr lang="es-ES" sz="1000">
                <a:latin typeface="SFRM1200"/>
              </a:rPr>
              <a:t>103(12) :2355–2380, 2015.</a:t>
            </a:r>
          </a:p>
        </p:txBody>
      </p:sp>
    </p:spTree>
    <p:extLst>
      <p:ext uri="{BB962C8B-B14F-4D97-AF65-F5344CB8AC3E}">
        <p14:creationId xmlns:p14="http://schemas.microsoft.com/office/powerpoint/2010/main" val="2294948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5CB12362-9593-4B32-AD02-65E1F3DFA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019" y="756838"/>
            <a:ext cx="7929716" cy="5376192"/>
          </a:xfrm>
          <a:prstGeom prst="rect">
            <a:avLst/>
          </a:prstGeom>
        </p:spPr>
      </p:pic>
      <p:sp>
        <p:nvSpPr>
          <p:cNvPr id="8" name="CuadroTexto 8">
            <a:extLst>
              <a:ext uri="{FF2B5EF4-FFF2-40B4-BE49-F238E27FC236}">
                <a16:creationId xmlns:a16="http://schemas.microsoft.com/office/drawing/2014/main" id="{BE999769-609C-4DE0-8CA0-DC9433EE621F}"/>
              </a:ext>
            </a:extLst>
          </p:cNvPr>
          <p:cNvSpPr txBox="1"/>
          <p:nvPr/>
        </p:nvSpPr>
        <p:spPr>
          <a:xfrm>
            <a:off x="986477" y="6211669"/>
            <a:ext cx="98293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b="1">
                <a:solidFill>
                  <a:srgbClr val="000000"/>
                </a:solidFill>
                <a:ea typeface="Lucida Sans Unicode" charset="0"/>
                <a:cs typeface="Lucida Sans Unicode"/>
              </a:rPr>
              <a:t>Figure 4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- Simulations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numériques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pour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différentes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valeurs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de P</a:t>
            </a:r>
            <a:r>
              <a:rPr lang="en-US" altLang="ja-JP" baseline="-25000">
                <a:solidFill>
                  <a:srgbClr val="000000"/>
                </a:solidFill>
                <a:ea typeface="Lucida Sans Unicode" charset="0"/>
                <a:cs typeface="Lucida Sans Unicode"/>
              </a:rPr>
              <a:t>ref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(sans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filtre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)</a:t>
            </a:r>
          </a:p>
          <a:p>
            <a:pPr algn="ctr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E76C8268-6251-4A77-9D1D-823B43B9380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3200" b="1">
              <a:solidFill>
                <a:srgbClr val="0070C0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7B04F19-6213-445B-BF5A-C5FBFA6C7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entraleSupélec - Wikipedia">
            <a:extLst>
              <a:ext uri="{FF2B5EF4-FFF2-40B4-BE49-F238E27FC236}">
                <a16:creationId xmlns:a16="http://schemas.microsoft.com/office/drawing/2014/main" id="{970CA0CD-5AE7-41BF-B89D-E2B34F1D0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34B6235F-C488-48FD-AAFF-432DCC809BC3}"/>
              </a:ext>
            </a:extLst>
          </p:cNvPr>
          <p:cNvSpPr txBox="1"/>
          <p:nvPr/>
        </p:nvSpPr>
        <p:spPr>
          <a:xfrm>
            <a:off x="2156941" y="5767689"/>
            <a:ext cx="982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/>
              <a:t>Ps = 2MW : </a:t>
            </a:r>
            <a:r>
              <a:rPr lang="fr-FR" i="1">
                <a:solidFill>
                  <a:srgbClr val="00B050"/>
                </a:solidFill>
              </a:rPr>
              <a:t>stable</a:t>
            </a:r>
            <a:r>
              <a:rPr lang="fr-FR" i="1"/>
              <a:t>   	Ps = 2,3MW : </a:t>
            </a:r>
            <a:r>
              <a:rPr lang="fr-FR" i="1">
                <a:solidFill>
                  <a:srgbClr val="00B050"/>
                </a:solidFill>
              </a:rPr>
              <a:t>stable   </a:t>
            </a:r>
            <a:r>
              <a:rPr lang="fr-FR" i="1"/>
              <a:t>     Ps = 2,5MW : </a:t>
            </a:r>
            <a:r>
              <a:rPr lang="fr-FR" i="1">
                <a:solidFill>
                  <a:srgbClr val="FF0000"/>
                </a:solidFill>
              </a:rPr>
              <a:t>instable</a:t>
            </a:r>
            <a:r>
              <a:rPr lang="fr-FR" i="1"/>
              <a:t>	 Ps = 3MW : </a:t>
            </a:r>
            <a:r>
              <a:rPr lang="fr-FR" i="1">
                <a:solidFill>
                  <a:srgbClr val="FF0000"/>
                </a:solidFill>
              </a:rPr>
              <a:t>instable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60117FA-CA34-3F4F-B77B-C13C1765E6C4}"/>
                  </a:ext>
                </a:extLst>
              </p:cNvPr>
              <p:cNvSpPr txBox="1"/>
              <p:nvPr/>
            </p:nvSpPr>
            <p:spPr>
              <a:xfrm>
                <a:off x="255679" y="3156857"/>
                <a:ext cx="2581861" cy="7956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𝑜𝑟𝑖𝑞𝑢𝑒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≈2.33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𝑀𝑊</m:t>
                      </m:r>
                    </m:oMath>
                  </m:oMathPara>
                </a14:m>
                <a:br>
                  <a:rPr lang="es-ES" b="0"/>
                </a:br>
                <a:endParaRPr lang="es-ES" b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60117FA-CA34-3F4F-B77B-C13C1765E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79" y="3156857"/>
                <a:ext cx="2581861" cy="795667"/>
              </a:xfrm>
              <a:prstGeom prst="rect">
                <a:avLst/>
              </a:prstGeom>
              <a:blipFill>
                <a:blip r:embed="rId6"/>
                <a:stretch>
                  <a:fillRect b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E76C8268-6251-4A77-9D1D-823B43B9380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1">
                <a:solidFill>
                  <a:srgbClr val="0070C0"/>
                </a:solidFill>
              </a:rPr>
              <a:t>Utilisation du Supraconducteur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7B04F19-6213-445B-BF5A-C5FBFA6C7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entraleSupélec - Wikipedia">
            <a:extLst>
              <a:ext uri="{FF2B5EF4-FFF2-40B4-BE49-F238E27FC236}">
                <a16:creationId xmlns:a16="http://schemas.microsoft.com/office/drawing/2014/main" id="{970CA0CD-5AE7-41BF-B89D-E2B34F1D0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35BBF59F-BF84-D446-BB87-60830ED65A71}"/>
              </a:ext>
            </a:extLst>
          </p:cNvPr>
          <p:cNvSpPr txBox="1">
            <a:spLocks/>
          </p:cNvSpPr>
          <p:nvPr/>
        </p:nvSpPr>
        <p:spPr>
          <a:xfrm>
            <a:off x="497306" y="1921877"/>
            <a:ext cx="11312020" cy="4314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53581A7F-6BC4-9C4B-AEF0-50C2025143CE}"/>
              </a:ext>
            </a:extLst>
          </p:cNvPr>
          <p:cNvSpPr txBox="1">
            <a:spLocks/>
          </p:cNvSpPr>
          <p:nvPr/>
        </p:nvSpPr>
        <p:spPr>
          <a:xfrm>
            <a:off x="497306" y="1921877"/>
            <a:ext cx="5303887" cy="33846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fr-FR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Limiteur de courant de défaut supraconducteur de type résistif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Augmenter la résistance seulement en cas d’instabilité (</a:t>
            </a:r>
            <a:r>
              <a:rPr lang="fr-FR" err="1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fr-FR" baseline="-25000" err="1">
                <a:solidFill>
                  <a:srgbClr val="000000"/>
                </a:solidFill>
                <a:latin typeface="Arial" panose="020B0604020202020204" pitchFamily="34" charset="0"/>
              </a:rPr>
              <a:t>demandée</a:t>
            </a:r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&gt; </a:t>
            </a:r>
            <a:r>
              <a:rPr lang="fr-FR" err="1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fr-FR" baseline="-25000" err="1">
                <a:solidFill>
                  <a:srgbClr val="000000"/>
                </a:solidFill>
                <a:latin typeface="Arial" panose="020B0604020202020204" pitchFamily="34" charset="0"/>
              </a:rPr>
              <a:t>lim</a:t>
            </a:r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>
                <a:solidFill>
                  <a:srgbClr val="000000"/>
                </a:solidFill>
                <a:latin typeface="Arial" panose="020B0604020202020204" pitchFamily="34" charset="0"/>
              </a:rPr>
              <a:t>N’influence pas le rendement en conditions nominales</a:t>
            </a:r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A7FC787-B009-4C48-867B-FAD29FD495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97" y="2287159"/>
            <a:ext cx="6170429" cy="2846421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8E76A43C-37E6-D241-A288-2D7EBCC055CE}"/>
              </a:ext>
            </a:extLst>
          </p:cNvPr>
          <p:cNvSpPr txBox="1"/>
          <p:nvPr/>
        </p:nvSpPr>
        <p:spPr>
          <a:xfrm>
            <a:off x="6715592" y="5306518"/>
            <a:ext cx="3893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Figure 5 </a:t>
            </a:r>
            <a:r>
              <a:rPr lang="fr-FR"/>
              <a:t>: Réseau DC avec une charge de puissance constante et un filtre supraconducteur </a:t>
            </a:r>
            <a:r>
              <a:rPr lang="fr-FR" err="1"/>
              <a:t>ScPF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6079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id="{29798089-4482-4F07-9F5E-077E707C1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8597" y="6518692"/>
            <a:ext cx="6834806" cy="228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1000">
                <a:latin typeface="+mj-lt"/>
              </a:rPr>
              <a:t>[1] </a:t>
            </a:r>
            <a:r>
              <a:rPr lang="en-US" sz="1000" err="1">
                <a:latin typeface="+mj-lt"/>
              </a:rPr>
              <a:t>Queval</a:t>
            </a:r>
            <a:r>
              <a:rPr lang="en-US" sz="1000">
                <a:latin typeface="+mj-lt"/>
              </a:rPr>
              <a:t>, F. </a:t>
            </a:r>
            <a:r>
              <a:rPr lang="en-US" sz="1000" err="1">
                <a:latin typeface="+mj-lt"/>
              </a:rPr>
              <a:t>Trillaud</a:t>
            </a:r>
            <a:r>
              <a:rPr lang="en-US" sz="1000">
                <a:latin typeface="+mj-lt"/>
              </a:rPr>
              <a:t> .</a:t>
            </a:r>
            <a:r>
              <a:rPr lang="en-US" sz="1000" b="0" i="0">
                <a:effectLst/>
                <a:latin typeface="Arial" panose="020B0604020202020204" pitchFamily="34" charset="0"/>
              </a:rPr>
              <a:t>Progress Towards the Realization of a DC Superconducting Power Filter, EUCAS GLASGOW 2019</a:t>
            </a:r>
            <a:endParaRPr lang="en-US" altLang="ja-JP" sz="1000">
              <a:ea typeface="Lucida Sans Unicode" charset="0"/>
              <a:cs typeface="Lucida Sans Unicode" charset="0"/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E76C8268-6251-4A77-9D1D-823B43B9380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1">
                <a:solidFill>
                  <a:srgbClr val="0070C0"/>
                </a:solidFill>
              </a:rPr>
              <a:t>Modèle Matlab-Simulink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7B04F19-6213-445B-BF5A-C5FBFA6C7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entraleSupélec - Wikipedia">
            <a:extLst>
              <a:ext uri="{FF2B5EF4-FFF2-40B4-BE49-F238E27FC236}">
                <a16:creationId xmlns:a16="http://schemas.microsoft.com/office/drawing/2014/main" id="{970CA0CD-5AE7-41BF-B89D-E2B34F1D0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">
            <a:extLst>
              <a:ext uri="{FF2B5EF4-FFF2-40B4-BE49-F238E27FC236}">
                <a16:creationId xmlns:a16="http://schemas.microsoft.com/office/drawing/2014/main" id="{45905281-3DBE-EC4D-B783-B5E33802A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8721" y="1758252"/>
            <a:ext cx="8455836" cy="478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77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9095A35-2692-7043-93D3-23244B4C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209" y="1024128"/>
            <a:ext cx="7061835" cy="529637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726" y="101960"/>
            <a:ext cx="10515600" cy="922168"/>
          </a:xfrm>
        </p:spPr>
        <p:txBody>
          <a:bodyPr anchor="b">
            <a:normAutofit/>
          </a:bodyPr>
          <a:lstStyle/>
          <a:p>
            <a:pPr algn="ctr"/>
            <a:r>
              <a:rPr lang="fr-FR" sz="3200" b="1">
                <a:solidFill>
                  <a:srgbClr val="0070C0"/>
                </a:solidFill>
              </a:rPr>
              <a:t>Conséquence du </a:t>
            </a:r>
            <a:r>
              <a:rPr lang="fr-FR" sz="3200" b="1" err="1">
                <a:solidFill>
                  <a:srgbClr val="0070C0"/>
                </a:solidFill>
              </a:rPr>
              <a:t>ScPF</a:t>
            </a:r>
            <a:r>
              <a:rPr lang="fr-FR" sz="3200" b="1">
                <a:solidFill>
                  <a:srgbClr val="0070C0"/>
                </a:solidFill>
              </a:rPr>
              <a:t> sur la stabilité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14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AC824880-BAC9-134D-82D1-166B28761292}"/>
              </a:ext>
            </a:extLst>
          </p:cNvPr>
          <p:cNvSpPr txBox="1"/>
          <p:nvPr/>
        </p:nvSpPr>
        <p:spPr>
          <a:xfrm>
            <a:off x="2443954" y="5907924"/>
            <a:ext cx="7304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/>
              <a:t>Ps = 2MW : </a:t>
            </a:r>
            <a:r>
              <a:rPr lang="fr-FR" sz="1600" i="1">
                <a:solidFill>
                  <a:srgbClr val="00B050"/>
                </a:solidFill>
              </a:rPr>
              <a:t>stable</a:t>
            </a:r>
            <a:r>
              <a:rPr lang="fr-FR" sz="1600" i="1"/>
              <a:t>      Ps = 2,3MW : </a:t>
            </a:r>
            <a:r>
              <a:rPr lang="fr-FR" sz="1600" i="1">
                <a:solidFill>
                  <a:srgbClr val="00B050"/>
                </a:solidFill>
              </a:rPr>
              <a:t>stable</a:t>
            </a:r>
            <a:r>
              <a:rPr lang="fr-FR" sz="1600" i="1"/>
              <a:t>    Ps = 2,5MW : </a:t>
            </a:r>
            <a:r>
              <a:rPr lang="fr-FR" sz="1600" i="1">
                <a:solidFill>
                  <a:srgbClr val="00B050"/>
                </a:solidFill>
              </a:rPr>
              <a:t>stable</a:t>
            </a:r>
            <a:r>
              <a:rPr lang="fr-FR" sz="1600" i="1"/>
              <a:t>    Ps = 3MW : </a:t>
            </a:r>
            <a:r>
              <a:rPr lang="fr-FR" sz="1600" i="1">
                <a:solidFill>
                  <a:srgbClr val="00B050"/>
                </a:solidFill>
              </a:rPr>
              <a:t>stable</a:t>
            </a:r>
          </a:p>
        </p:txBody>
      </p:sp>
      <p:sp>
        <p:nvSpPr>
          <p:cNvPr id="17" name="CuadroTexto 8">
            <a:extLst>
              <a:ext uri="{FF2B5EF4-FFF2-40B4-BE49-F238E27FC236}">
                <a16:creationId xmlns:a16="http://schemas.microsoft.com/office/drawing/2014/main" id="{ABC58FBB-2012-7B48-AC1F-D128D461264D}"/>
              </a:ext>
            </a:extLst>
          </p:cNvPr>
          <p:cNvSpPr txBox="1"/>
          <p:nvPr/>
        </p:nvSpPr>
        <p:spPr>
          <a:xfrm>
            <a:off x="1181349" y="6320505"/>
            <a:ext cx="98293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b="1">
                <a:solidFill>
                  <a:srgbClr val="000000"/>
                </a:solidFill>
                <a:ea typeface="Lucida Sans Unicode" charset="0"/>
                <a:cs typeface="Lucida Sans Unicode"/>
              </a:rPr>
              <a:t>Figure 6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- Simulations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numériques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pour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différentes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valeurs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de P</a:t>
            </a:r>
            <a:r>
              <a:rPr lang="en-US" altLang="ja-JP" baseline="-25000">
                <a:solidFill>
                  <a:srgbClr val="000000"/>
                </a:solidFill>
                <a:ea typeface="Lucida Sans Unicode" charset="0"/>
                <a:cs typeface="Lucida Sans Unicode"/>
              </a:rPr>
              <a:t>ref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(avec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filtre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)</a:t>
            </a:r>
          </a:p>
          <a:p>
            <a:pPr algn="ctr"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704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C53B0689-7D03-F04C-8341-6FE0A9701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0300" y="1134000"/>
            <a:ext cx="8640000" cy="5724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b="1">
                <a:solidFill>
                  <a:srgbClr val="0070C0"/>
                </a:solidFill>
                <a:ea typeface="Lucida Sans Unicode" charset="0"/>
                <a:cs typeface="Lucida Sans Unicode"/>
              </a:rPr>
              <a:t>III. </a:t>
            </a:r>
            <a:r>
              <a:rPr lang="en-US" altLang="ja-JP" sz="3200" b="1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Optimisation</a:t>
            </a:r>
            <a:endParaRPr lang="en-US" altLang="ja-JP" sz="3200" b="1">
              <a:solidFill>
                <a:srgbClr val="0070C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Formulation du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problème</a:t>
            </a: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Couplage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MOPSO / Simulink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7074F0C-6878-734A-BE4D-EF1776C63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286B87C-0930-9A4B-96AA-DABAE229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15</a:t>
            </a:fld>
            <a:endParaRPr lang="fr-FR"/>
          </a:p>
        </p:txBody>
      </p:sp>
      <p:pic>
        <p:nvPicPr>
          <p:cNvPr id="6" name="Picture 4" descr="CentraleSupélec - Wikipedia">
            <a:extLst>
              <a:ext uri="{FF2B5EF4-FFF2-40B4-BE49-F238E27FC236}">
                <a16:creationId xmlns:a16="http://schemas.microsoft.com/office/drawing/2014/main" id="{DBFB2725-D936-A145-A24F-1BB24D25C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852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>
                <a:solidFill>
                  <a:srgbClr val="0070C0"/>
                </a:solidFill>
              </a:rPr>
              <a:t>Formulation du problème : </a:t>
            </a:r>
            <a:br>
              <a:rPr lang="fr-FR" sz="3200" b="1">
                <a:solidFill>
                  <a:srgbClr val="0070C0"/>
                </a:solidFill>
              </a:rPr>
            </a:br>
            <a:r>
              <a:rPr lang="fr-FR" sz="3200" b="1">
                <a:solidFill>
                  <a:srgbClr val="0070C0"/>
                </a:solidFill>
              </a:rPr>
              <a:t>mono-objectif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1C629D-B55F-5F47-B9DF-BFB02A5DF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88" y="147229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fr-FR">
                <a:ea typeface="+mn-lt"/>
                <a:cs typeface="+mn-lt"/>
              </a:rPr>
            </a:br>
            <a:endParaRPr lang="fr-FR">
              <a:ea typeface="+mn-lt"/>
              <a:cs typeface="+mn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16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1">
                <a:extLst>
                  <a:ext uri="{FF2B5EF4-FFF2-40B4-BE49-F238E27FC236}">
                    <a16:creationId xmlns:a16="http://schemas.microsoft.com/office/drawing/2014/main" id="{12A462A9-0C61-764F-8FB7-1AC7020D3F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4182" y="1584999"/>
                <a:ext cx="8450412" cy="2505507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90000" tIns="46800" rIns="90000" bIns="46800" anchor="ctr"/>
              <a:lstStyle/>
              <a:p>
                <a:pPr>
                  <a:buClrTx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𝑀𝑖𝑛𝑖𝑚𝑖𝑧𝑒</m:t>
                          </m:r>
                        </m:e>
                        <m:li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∈[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𝑙𝑏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𝑢𝑏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]</m:t>
                          </m:r>
                        </m:lim>
                      </m:limLow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𝑠𝑜𝑢𝑠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𝑐𝑜𝑛𝑡𝑟𝑎𝑖𝑛𝑡𝑒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:</m:t>
                      </m:r>
                      <m:d>
                        <m:dPr>
                          <m:begChr m:val="{"/>
                          <m:endChr m:val="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𝑙𝑒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𝑔𝑖𝑚𝑒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𝑒𝑠𝑡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𝑠𝑡𝑎𝑏𝑙𝑒</m:t>
                              </m:r>
                            </m:e>
                            <m:e/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𝑉𝑐𝑝𝑙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ja-JP" sz="3200">
                  <a:solidFill>
                    <a:srgbClr val="0070C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 xmlns="">
          <p:sp>
            <p:nvSpPr>
              <p:cNvPr id="8" name="Text Box 1">
                <a:extLst>
                  <a:ext uri="{FF2B5EF4-FFF2-40B4-BE49-F238E27FC236}">
                    <a16:creationId xmlns:a16="http://schemas.microsoft.com/office/drawing/2014/main" id="{12A462A9-0C61-764F-8FB7-1AC7020D3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4182" y="1584999"/>
                <a:ext cx="8450412" cy="25055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ZoneTexte 11">
            <a:extLst>
              <a:ext uri="{FF2B5EF4-FFF2-40B4-BE49-F238E27FC236}">
                <a16:creationId xmlns:a16="http://schemas.microsoft.com/office/drawing/2014/main" id="{1A83F6F6-88B8-4C43-A8A1-C074A1E1EEEC}"/>
              </a:ext>
            </a:extLst>
          </p:cNvPr>
          <p:cNvSpPr txBox="1"/>
          <p:nvPr/>
        </p:nvSpPr>
        <p:spPr>
          <a:xfrm>
            <a:off x="1144812" y="4349671"/>
            <a:ext cx="72131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Objectif de prise en main du système en vue du problème multi-objectif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1103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>
                <a:solidFill>
                  <a:srgbClr val="0070C0"/>
                </a:solidFill>
              </a:rPr>
              <a:t>Formulation du problème :</a:t>
            </a:r>
            <a:br>
              <a:rPr lang="fr-FR" sz="3200" b="1">
                <a:solidFill>
                  <a:srgbClr val="0070C0"/>
                </a:solidFill>
              </a:rPr>
            </a:br>
            <a:r>
              <a:rPr lang="fr-FR" sz="3200" b="1">
                <a:solidFill>
                  <a:srgbClr val="0070C0"/>
                </a:solidFill>
              </a:rPr>
              <a:t>multi-objectif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1C629D-B55F-5F47-B9DF-BFB02A5DF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88" y="147229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fr-FR">
                <a:ea typeface="+mn-lt"/>
                <a:cs typeface="+mn-lt"/>
              </a:rPr>
            </a:br>
            <a:endParaRPr lang="fr-FR">
              <a:ea typeface="+mn-lt"/>
              <a:cs typeface="+mn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17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2D08D5B-4472-6B4C-8F01-13B0328CAB5B}"/>
                  </a:ext>
                </a:extLst>
              </p:cNvPr>
              <p:cNvSpPr/>
              <p:nvPr/>
            </p:nvSpPr>
            <p:spPr>
              <a:xfrm>
                <a:off x="176441" y="1891137"/>
                <a:ext cx="11225893" cy="13093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1400"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𝑀𝑖𝑛𝑖𝑚𝑖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lim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𝑅𝑠h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𝐿𝑡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) ∈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𝐷𝑜𝑚𝑎𝑖𝑛𝑒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𝑠h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𝐿𝑡</m:t>
                              </m:r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𝑠𝑜𝑢𝑠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𝑐𝑜𝑛𝑡𝑟𝑎𝑖𝑛𝑡𝑒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 :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𝑙𝑒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é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𝑔𝑖𝑚𝑒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𝑒𝑠𝑡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𝑠𝑡𝑎𝑏𝑙𝑒</m:t>
                                  </m:r>
                                </m:e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𝑇𝑐𝑟𝑖𝑡𝑖𝑞𝑢𝑒</m:t>
                                  </m:r>
                                </m:e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𝑉𝑐𝑝𝑙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&lt;0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fr-FR" sz="20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>
                  <a:cs typeface="Calibri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2D08D5B-4472-6B4C-8F01-13B0328CA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41" y="1891137"/>
                <a:ext cx="11225893" cy="13093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49F9E58-4F38-8C4E-A5CB-F70DDF3BF928}"/>
                  </a:ext>
                </a:extLst>
              </p:cNvPr>
              <p:cNvSpPr txBox="1"/>
              <p:nvPr/>
            </p:nvSpPr>
            <p:spPr>
              <a:xfrm>
                <a:off x="553413" y="3690257"/>
                <a:ext cx="6417129" cy="3076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/>
                  <a:t>Domaine 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𝑅𝑠h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;1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</m:d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⟦"/>
                                <m:endChr m:val="⟧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1,5</m:t>
                                </m:r>
                              </m:e>
                            </m:d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𝐿𝑡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∈[15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 120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eqArr>
                      </m:e>
                    </m:d>
                  </m:oMath>
                </a14:m>
                <a:endParaRPr lang="fr-FR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/>
                  <a:t>Paramètres fixes : R, L, C, V</a:t>
                </a:r>
                <a:r>
                  <a:rPr lang="fr-FR" baseline="-25000"/>
                  <a:t>e</a:t>
                </a:r>
                <a:r>
                  <a:rPr lang="fr-FR"/>
                  <a:t>, </a:t>
                </a:r>
                <a:r>
                  <a:rPr lang="fr-FR" err="1"/>
                  <a:t>P</a:t>
                </a:r>
                <a:r>
                  <a:rPr lang="fr-FR" baseline="-25000" err="1"/>
                  <a:t>ref</a:t>
                </a:r>
                <a:endParaRPr lang="fr-FR"/>
              </a:p>
              <a:p>
                <a:endParaRPr lang="fr-FR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/>
                  <a:t>La contrainte –V</a:t>
                </a:r>
                <a:r>
                  <a:rPr lang="fr-FR" baseline="-25000"/>
                  <a:t>CPL</a:t>
                </a:r>
                <a:r>
                  <a:rPr lang="fr-FR"/>
                  <a:t> &lt; 0 est déjà comprise dans le fichier </a:t>
                </a:r>
                <a:r>
                  <a:rPr lang="fr-FR" err="1"/>
                  <a:t>simulink</a:t>
                </a:r>
                <a:endParaRPr lang="fr-FR"/>
              </a:p>
              <a:p>
                <a:endParaRPr lang="fr-FR"/>
              </a:p>
              <a:p>
                <a:endParaRPr lang="fr-FR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49F9E58-4F38-8C4E-A5CB-F70DDF3BF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13" y="3690257"/>
                <a:ext cx="6417129" cy="3076548"/>
              </a:xfrm>
              <a:prstGeom prst="rect">
                <a:avLst/>
              </a:prstGeom>
              <a:blipFill>
                <a:blip r:embed="rId6"/>
                <a:stretch>
                  <a:fillRect l="-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 9">
            <a:extLst>
              <a:ext uri="{FF2B5EF4-FFF2-40B4-BE49-F238E27FC236}">
                <a16:creationId xmlns:a16="http://schemas.microsoft.com/office/drawing/2014/main" id="{C4D18C8A-E219-DE4D-BD9B-7A30EB577D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6015" y="3400919"/>
            <a:ext cx="4418746" cy="203836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DEA41E7-6536-9C42-B8DA-FEDD9EAF3690}"/>
              </a:ext>
            </a:extLst>
          </p:cNvPr>
          <p:cNvSpPr txBox="1"/>
          <p:nvPr/>
        </p:nvSpPr>
        <p:spPr>
          <a:xfrm>
            <a:off x="7643788" y="5423256"/>
            <a:ext cx="2743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/>
              <a:t>Rappel Figure 5 </a:t>
            </a:r>
            <a:r>
              <a:rPr lang="fr-FR" sz="1400"/>
              <a:t>: Réseau DC avec une charge de puissance constante et un filtre supraconducteur </a:t>
            </a:r>
            <a:r>
              <a:rPr lang="fr-FR" sz="1400" err="1"/>
              <a:t>ScPF</a:t>
            </a:r>
            <a:endParaRPr lang="fr-FR" sz="140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BE82266-6EAD-C642-99FD-C7F0D80FEA41}"/>
              </a:ext>
            </a:extLst>
          </p:cNvPr>
          <p:cNvCxnSpPr/>
          <p:nvPr/>
        </p:nvCxnSpPr>
        <p:spPr>
          <a:xfrm>
            <a:off x="6461760" y="3400919"/>
            <a:ext cx="0" cy="29554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456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>
                <a:solidFill>
                  <a:srgbClr val="0070C0"/>
                </a:solidFill>
              </a:rPr>
              <a:t>Couplage MOPSO / Simulink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1C629D-B55F-5F47-B9DF-BFB02A5DF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88" y="147229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fr-FR">
                <a:ea typeface="+mn-lt"/>
                <a:cs typeface="+mn-lt"/>
              </a:rPr>
            </a:br>
            <a:endParaRPr lang="fr-FR">
              <a:ea typeface="+mn-lt"/>
              <a:cs typeface="+mn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18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Diagramme 5">
            <a:extLst>
              <a:ext uri="{FF2B5EF4-FFF2-40B4-BE49-F238E27FC236}">
                <a16:creationId xmlns:a16="http://schemas.microsoft.com/office/drawing/2014/main" id="{C3F0BAF4-9EF7-B742-B2DB-AC1B0E02B8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489881"/>
              </p:ext>
            </p:extLst>
          </p:nvPr>
        </p:nvGraphicFramePr>
        <p:xfrm>
          <a:off x="-779680" y="1584999"/>
          <a:ext cx="5906278" cy="4875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9" name="Groupe 8">
            <a:extLst>
              <a:ext uri="{FF2B5EF4-FFF2-40B4-BE49-F238E27FC236}">
                <a16:creationId xmlns:a16="http://schemas.microsoft.com/office/drawing/2014/main" id="{6FB4C65A-A677-FB43-8689-2E40D14FD7BC}"/>
              </a:ext>
            </a:extLst>
          </p:cNvPr>
          <p:cNvGrpSpPr/>
          <p:nvPr/>
        </p:nvGrpSpPr>
        <p:grpSpPr>
          <a:xfrm>
            <a:off x="5273749" y="2379355"/>
            <a:ext cx="3503234" cy="1206371"/>
            <a:chOff x="1482024" y="1103964"/>
            <a:chExt cx="2942228" cy="735557"/>
          </a:xfrm>
        </p:grpSpPr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B815108F-2699-4143-8979-D5B753AC7EE0}"/>
                </a:ext>
              </a:extLst>
            </p:cNvPr>
            <p:cNvSpPr/>
            <p:nvPr/>
          </p:nvSpPr>
          <p:spPr>
            <a:xfrm>
              <a:off x="1482024" y="1103964"/>
              <a:ext cx="2942228" cy="73555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ectangle : coins arrondis 4">
              <a:extLst>
                <a:ext uri="{FF2B5EF4-FFF2-40B4-BE49-F238E27FC236}">
                  <a16:creationId xmlns:a16="http://schemas.microsoft.com/office/drawing/2014/main" id="{0694B14B-9CED-B047-BD94-5E08B681D67B}"/>
                </a:ext>
              </a:extLst>
            </p:cNvPr>
            <p:cNvSpPr txBox="1"/>
            <p:nvPr/>
          </p:nvSpPr>
          <p:spPr>
            <a:xfrm>
              <a:off x="1503568" y="1125508"/>
              <a:ext cx="2899140" cy="692469"/>
            </a:xfrm>
            <a:prstGeom prst="rect">
              <a:avLst/>
            </a:prstGeom>
            <a:solidFill>
              <a:srgbClr val="C00000"/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600" kern="1200">
                  <a:latin typeface="Arial"/>
                </a:rPr>
                <a:t>Simulink</a:t>
              </a:r>
            </a:p>
            <a:p>
              <a:pPr marL="0" lvl="0" indent="0" algn="ctr" defTabSz="711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600">
                  <a:latin typeface="Arial"/>
                </a:rPr>
                <a:t>Sortie de 4 variables intéressantes</a:t>
              </a:r>
            </a:p>
            <a:p>
              <a:pPr marL="0" lvl="0" indent="0" algn="ctr" defTabSz="711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1600">
                  <a:latin typeface="Arial"/>
                </a:rPr>
                <a:t>I</a:t>
              </a:r>
              <a:r>
                <a:rPr lang="fr-FR" sz="1600" baseline="-25000">
                  <a:latin typeface="Arial"/>
                </a:rPr>
                <a:t>CPL</a:t>
              </a:r>
              <a:r>
                <a:rPr lang="fr-FR" sz="1600">
                  <a:latin typeface="Arial"/>
                </a:rPr>
                <a:t>, V</a:t>
              </a:r>
              <a:r>
                <a:rPr lang="fr-FR" sz="1600" baseline="-25000">
                  <a:latin typeface="Arial"/>
                </a:rPr>
                <a:t>C</a:t>
              </a:r>
              <a:r>
                <a:rPr lang="fr-FR" sz="1600">
                  <a:latin typeface="Arial"/>
                </a:rPr>
                <a:t>, </a:t>
              </a:r>
              <a:r>
                <a:rPr lang="fr-FR" sz="1600" err="1">
                  <a:latin typeface="Arial"/>
                </a:rPr>
                <a:t>T</a:t>
              </a:r>
              <a:r>
                <a:rPr lang="fr-FR" sz="1600">
                  <a:latin typeface="Arial"/>
                </a:rPr>
                <a:t> et </a:t>
              </a:r>
              <a:r>
                <a:rPr lang="fr-FR" sz="1600" err="1">
                  <a:latin typeface="Arial"/>
                </a:rPr>
                <a:t>R</a:t>
              </a:r>
              <a:r>
                <a:rPr lang="fr-FR" sz="1600" baseline="-25000" err="1">
                  <a:latin typeface="Arial"/>
                </a:rPr>
                <a:t>ScPF</a:t>
              </a:r>
              <a:endParaRPr lang="fr-FR" sz="1600" kern="1200" baseline="-25000"/>
            </a:p>
          </p:txBody>
        </p:sp>
      </p:grpSp>
      <p:sp>
        <p:nvSpPr>
          <p:cNvPr id="12" name="Flèche : courbe vers la gauche 2">
            <a:extLst>
              <a:ext uri="{FF2B5EF4-FFF2-40B4-BE49-F238E27FC236}">
                <a16:creationId xmlns:a16="http://schemas.microsoft.com/office/drawing/2014/main" id="{458DEEF8-C93A-6242-842B-BB20C3C5DA31}"/>
              </a:ext>
            </a:extLst>
          </p:cNvPr>
          <p:cNvSpPr/>
          <p:nvPr/>
        </p:nvSpPr>
        <p:spPr>
          <a:xfrm rot="16200000">
            <a:off x="5045954" y="-113826"/>
            <a:ext cx="822643" cy="4163719"/>
          </a:xfrm>
          <a:prstGeom prst="curvedLeftArrow">
            <a:avLst>
              <a:gd name="adj1" fmla="val 26569"/>
              <a:gd name="adj2" fmla="val 50000"/>
              <a:gd name="adj3" fmla="val 25000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Flèche : courbe vers la gauche 12">
            <a:extLst>
              <a:ext uri="{FF2B5EF4-FFF2-40B4-BE49-F238E27FC236}">
                <a16:creationId xmlns:a16="http://schemas.microsoft.com/office/drawing/2014/main" id="{CFFF2CF6-6AF2-8341-A458-FDFEC222DCF6}"/>
              </a:ext>
            </a:extLst>
          </p:cNvPr>
          <p:cNvSpPr/>
          <p:nvPr/>
        </p:nvSpPr>
        <p:spPr>
          <a:xfrm rot="5400000">
            <a:off x="4844479" y="2055338"/>
            <a:ext cx="1135701" cy="4253610"/>
          </a:xfrm>
          <a:prstGeom prst="curvedLeftArrow">
            <a:avLst>
              <a:gd name="adj1" fmla="val 26903"/>
              <a:gd name="adj2" fmla="val 50000"/>
              <a:gd name="adj3" fmla="val 25278"/>
            </a:avLst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Flèche : virage 22">
            <a:extLst>
              <a:ext uri="{FF2B5EF4-FFF2-40B4-BE49-F238E27FC236}">
                <a16:creationId xmlns:a16="http://schemas.microsoft.com/office/drawing/2014/main" id="{FB481AC7-A9E6-114A-950A-6F03047E9AF5}"/>
              </a:ext>
            </a:extLst>
          </p:cNvPr>
          <p:cNvSpPr/>
          <p:nvPr/>
        </p:nvSpPr>
        <p:spPr>
          <a:xfrm>
            <a:off x="51158" y="2551300"/>
            <a:ext cx="681135" cy="2459239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Signe Moins 23">
            <a:extLst>
              <a:ext uri="{FF2B5EF4-FFF2-40B4-BE49-F238E27FC236}">
                <a16:creationId xmlns:a16="http://schemas.microsoft.com/office/drawing/2014/main" id="{F7A0DAEC-DEFD-2E4A-9FF6-A5A17A50C741}"/>
              </a:ext>
            </a:extLst>
          </p:cNvPr>
          <p:cNvSpPr/>
          <p:nvPr/>
        </p:nvSpPr>
        <p:spPr>
          <a:xfrm>
            <a:off x="-93467" y="4523731"/>
            <a:ext cx="970384" cy="783772"/>
          </a:xfrm>
          <a:prstGeom prst="mathMin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447247D-2727-E643-84C7-E99CD7FEAA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205" y="3755381"/>
            <a:ext cx="4418746" cy="2038368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52FB5971-D3FF-3343-A3D2-4BEBE60FD28F}"/>
              </a:ext>
            </a:extLst>
          </p:cNvPr>
          <p:cNvSpPr txBox="1"/>
          <p:nvPr/>
        </p:nvSpPr>
        <p:spPr>
          <a:xfrm>
            <a:off x="8303988" y="5568545"/>
            <a:ext cx="2743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/>
              <a:t>Rappel Figure 5 </a:t>
            </a:r>
            <a:r>
              <a:rPr lang="fr-FR" sz="1400"/>
              <a:t>: Réseau DC avec une charge de puissance constante et un filtre supraconducteur </a:t>
            </a:r>
            <a:r>
              <a:rPr lang="fr-FR" sz="1400" err="1"/>
              <a:t>ScPF</a:t>
            </a:r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2259711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7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1">
                <a:solidFill>
                  <a:srgbClr val="0070C0"/>
                </a:solidFill>
              </a:rPr>
              <a:t>Optimisation de la résistance sans </a:t>
            </a:r>
            <a:r>
              <a:rPr lang="fr-FR" sz="3200" b="1" err="1">
                <a:solidFill>
                  <a:srgbClr val="0070C0"/>
                </a:solidFill>
              </a:rPr>
              <a:t>ScPF</a:t>
            </a:r>
            <a:endParaRPr lang="fr-FR" sz="3200" b="1">
              <a:solidFill>
                <a:srgbClr val="0070C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19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6AA2501D-0806-004B-A68A-42559F71DE86}"/>
              </a:ext>
            </a:extLst>
          </p:cNvPr>
          <p:cNvSpPr txBox="1"/>
          <p:nvPr/>
        </p:nvSpPr>
        <p:spPr>
          <a:xfrm>
            <a:off x="2651988" y="2459504"/>
            <a:ext cx="68880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/>
              <a:t>• Résistance limite calculée analytiquement : </a:t>
            </a:r>
            <a:r>
              <a:rPr lang="fr-FR" sz="2000" err="1"/>
              <a:t>R</a:t>
            </a:r>
            <a:r>
              <a:rPr lang="fr-FR" sz="2000" baseline="-25000" err="1"/>
              <a:t>lim</a:t>
            </a:r>
            <a:r>
              <a:rPr lang="fr-FR" sz="2000"/>
              <a:t> = 0,048 </a:t>
            </a:r>
            <a:r>
              <a:rPr lang="el-GR" sz="2000">
                <a:cs typeface="Times New Roman" panose="02020603050405020304" pitchFamily="18" charset="0"/>
              </a:rPr>
              <a:t>Ω</a:t>
            </a:r>
            <a:endParaRPr lang="fr-FR" sz="2000">
              <a:cs typeface="Times New Roman" panose="02020603050405020304" pitchFamily="18" charset="0"/>
            </a:endParaRPr>
          </a:p>
          <a:p>
            <a:endParaRPr lang="fr-FR" sz="2000">
              <a:cs typeface="Times New Roman" panose="02020603050405020304" pitchFamily="18" charset="0"/>
            </a:endParaRPr>
          </a:p>
          <a:p>
            <a:r>
              <a:rPr lang="fr-FR" sz="2000">
                <a:cs typeface="Times New Roman" panose="02020603050405020304" pitchFamily="18" charset="0"/>
              </a:rPr>
              <a:t>• On recherche le même résultat par optimisation</a:t>
            </a:r>
          </a:p>
          <a:p>
            <a:r>
              <a:rPr lang="fr-FR" sz="2000">
                <a:cs typeface="Times New Roman" panose="02020603050405020304" pitchFamily="18" charset="0"/>
              </a:rPr>
              <a:t>• Contraintes : stabilité du système (fonction </a:t>
            </a:r>
            <a:r>
              <a:rPr lang="fr-FR" sz="2000" i="1" err="1">
                <a:cs typeface="Times New Roman" panose="02020603050405020304" pitchFamily="18" charset="0"/>
              </a:rPr>
              <a:t>isstable.m</a:t>
            </a:r>
            <a:r>
              <a:rPr lang="fr-FR" sz="2000">
                <a:cs typeface="Times New Roman" panose="02020603050405020304" pitchFamily="18" charset="0"/>
              </a:rPr>
              <a:t>)</a:t>
            </a:r>
          </a:p>
          <a:p>
            <a:r>
              <a:rPr lang="fr-FR" sz="2000">
                <a:cs typeface="Times New Roman" panose="02020603050405020304" pitchFamily="18" charset="0"/>
              </a:rPr>
              <a:t>• </a:t>
            </a:r>
            <a:r>
              <a:rPr lang="fr-FR" sz="2000"/>
              <a:t>Avec 25 itérations et 100 individus : </a:t>
            </a:r>
            <a:r>
              <a:rPr lang="fr-FR" sz="2000" err="1"/>
              <a:t>R</a:t>
            </a:r>
            <a:r>
              <a:rPr lang="fr-FR" sz="2000" baseline="-25000" err="1"/>
              <a:t>lim</a:t>
            </a:r>
            <a:r>
              <a:rPr lang="fr-FR" sz="2000"/>
              <a:t> = 0,0486 </a:t>
            </a:r>
            <a:r>
              <a:rPr lang="el-GR" sz="2000">
                <a:cs typeface="Times New Roman" panose="02020603050405020304" pitchFamily="18" charset="0"/>
              </a:rPr>
              <a:t>Ω</a:t>
            </a:r>
            <a:endParaRPr lang="fr-FR" sz="2000"/>
          </a:p>
          <a:p>
            <a:endParaRPr lang="fr-FR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72B7CA31-80CE-834D-92F2-2CF4438E0E57}"/>
                  </a:ext>
                </a:extLst>
              </p:cNvPr>
              <p:cNvSpPr txBox="1"/>
              <p:nvPr/>
            </p:nvSpPr>
            <p:spPr>
              <a:xfrm>
                <a:off x="3926109" y="1711758"/>
                <a:ext cx="330739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𝑚𝑖𝑛𝑖𝑚𝑖𝑧𝑒</m:t>
                          </m:r>
                        </m:fName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func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𝑠𝑡𝑎𝑏𝑖𝑙𝑖𝑡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é</m:t>
                      </m:r>
                    </m:oMath>
                  </m:oMathPara>
                </a14:m>
                <a:endParaRPr lang="fr-FR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72B7CA31-80CE-834D-92F2-2CF4438E0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109" y="1711758"/>
                <a:ext cx="3307393" cy="461665"/>
              </a:xfrm>
              <a:prstGeom prst="rect">
                <a:avLst/>
              </a:prstGeom>
              <a:blipFill>
                <a:blip r:embed="rId5"/>
                <a:stretch>
                  <a:fillRect l="-368" r="-8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7860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C53B0689-7D03-F04C-8341-6FE0A9701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0300" y="1134000"/>
            <a:ext cx="8640000" cy="5724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b="1">
                <a:solidFill>
                  <a:srgbClr val="0070C0"/>
                </a:solidFill>
                <a:ea typeface="Lucida Sans Unicode" charset="0"/>
                <a:cs typeface="Lucida Sans Unicode"/>
              </a:rPr>
              <a:t>IV. Simulations et </a:t>
            </a:r>
            <a:r>
              <a:rPr lang="en-US" altLang="ja-JP" sz="3200" b="1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résultats</a:t>
            </a:r>
            <a:endParaRPr lang="en-US" altLang="ja-JP" sz="3200" b="1">
              <a:solidFill>
                <a:srgbClr val="0070C0"/>
              </a:solidFill>
              <a:ea typeface="Lucida Sans Unicode" charset="0"/>
              <a:cs typeface="Lucida Sans Unicode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Front de Pareto</a:t>
            </a: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Analyse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de 3 Points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importants</a:t>
            </a: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Front de Pareto pour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différentes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valeurs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de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de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dépassement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de la puissance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nominale</a:t>
            </a: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chemeClr val="accent5">
                  <a:lumMod val="60000"/>
                  <a:lumOff val="40000"/>
                </a:schemeClr>
              </a:solidFill>
              <a:ea typeface="Lucida Sans Unicode" charset="0"/>
              <a:cs typeface="Lucida Sans Unicode" charset="0"/>
            </a:endParaRPr>
          </a:p>
          <a:p>
            <a:pPr marL="342900" indent="-342900">
              <a:buAutoNum type="arabicParenR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Améliorations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possible / Étude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d’autre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</a:t>
            </a:r>
            <a:r>
              <a:rPr lang="en-US" altLang="ja-JP" sz="2400" err="1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paramètres</a:t>
            </a:r>
            <a:r>
              <a:rPr lang="en-US" altLang="ja-JP" sz="2400">
                <a:solidFill>
                  <a:schemeClr val="accent5">
                    <a:lumMod val="60000"/>
                    <a:lumOff val="40000"/>
                  </a:schemeClr>
                </a:solidFill>
                <a:ea typeface="Lucida Sans Unicode" charset="0"/>
                <a:cs typeface="Lucida Sans Unicode" charset="0"/>
              </a:rPr>
              <a:t> à faire varier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7074F0C-6878-734A-BE4D-EF1776C63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286B87C-0930-9A4B-96AA-DABAE229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20</a:t>
            </a:fld>
            <a:endParaRPr lang="fr-FR"/>
          </a:p>
        </p:txBody>
      </p:sp>
      <p:pic>
        <p:nvPicPr>
          <p:cNvPr id="6" name="Picture 4" descr="CentraleSupélec - Wikipedia">
            <a:extLst>
              <a:ext uri="{FF2B5EF4-FFF2-40B4-BE49-F238E27FC236}">
                <a16:creationId xmlns:a16="http://schemas.microsoft.com/office/drawing/2014/main" id="{DBFB2725-D936-A145-A24F-1BB24D25C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186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>
                <a:solidFill>
                  <a:srgbClr val="0070C0"/>
                </a:solidFill>
              </a:rPr>
              <a:t>Front de Pareto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1C629D-B55F-5F47-B9DF-BFB02A5DF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88" y="147229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fr-FR">
                <a:ea typeface="+mn-lt"/>
                <a:cs typeface="+mn-lt"/>
              </a:rPr>
            </a:br>
            <a:endParaRPr lang="fr-FR">
              <a:ea typeface="+mn-lt"/>
              <a:cs typeface="+mn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21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334DC1F-DE68-D243-B01B-52C3CB0B2AF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3" t="4511" r="5913" b="2420"/>
          <a:stretch/>
        </p:blipFill>
        <p:spPr>
          <a:xfrm>
            <a:off x="2745698" y="1246708"/>
            <a:ext cx="6700604" cy="524918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40F461E-2E4A-41E7-A231-4B09DEA91416}"/>
              </a:ext>
            </a:extLst>
          </p:cNvPr>
          <p:cNvSpPr txBox="1"/>
          <p:nvPr/>
        </p:nvSpPr>
        <p:spPr>
          <a:xfrm>
            <a:off x="456265" y="3295493"/>
            <a:ext cx="2289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X individus</a:t>
            </a:r>
          </a:p>
          <a:p>
            <a:r>
              <a:rPr lang="fr-FR"/>
              <a:t>Y générations</a:t>
            </a:r>
          </a:p>
          <a:p>
            <a:r>
              <a:rPr lang="fr-FR"/>
              <a:t>~ 2h de calcul (laptop)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926DD5D3-9EA1-4A9C-9CE2-856BE40AC1AF}"/>
                  </a:ext>
                </a:extLst>
              </p:cNvPr>
              <p:cNvSpPr txBox="1"/>
              <p:nvPr/>
            </p:nvSpPr>
            <p:spPr>
              <a:xfrm>
                <a:off x="9367823" y="3618469"/>
                <a:ext cx="24992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𝑑𝑒𝑚𝑎𝑛𝑑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=1,2×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𝑙𝑖𝑚</m:t>
                          </m:r>
                        </m:sub>
                      </m:sSub>
                    </m:oMath>
                  </m:oMathPara>
                </a14:m>
                <a:endParaRPr lang="fr-FR" b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926DD5D3-9EA1-4A9C-9CE2-856BE40AC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7823" y="3618469"/>
                <a:ext cx="2499264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uadroTexto 8">
            <a:extLst>
              <a:ext uri="{FF2B5EF4-FFF2-40B4-BE49-F238E27FC236}">
                <a16:creationId xmlns:a16="http://schemas.microsoft.com/office/drawing/2014/main" id="{8DE24408-CED8-D443-97DE-E95A701F94E4}"/>
              </a:ext>
            </a:extLst>
          </p:cNvPr>
          <p:cNvSpPr txBox="1"/>
          <p:nvPr/>
        </p:nvSpPr>
        <p:spPr>
          <a:xfrm>
            <a:off x="456265" y="6372211"/>
            <a:ext cx="981029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b="1">
                <a:solidFill>
                  <a:srgbClr val="000000"/>
                </a:solidFill>
                <a:ea typeface="Lucida Sans Unicode" charset="0"/>
                <a:cs typeface="Lucida Sans Unicode"/>
              </a:rPr>
              <a:t>Figure 7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– Front de Pareto </a:t>
            </a:r>
            <a:r>
              <a:rPr lang="en-U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obtenu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pour  </a:t>
            </a: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03F20B7B-766D-0240-8679-8020EF9E8E40}"/>
                  </a:ext>
                </a:extLst>
              </p:cNvPr>
              <p:cNvSpPr txBox="1"/>
              <p:nvPr/>
            </p:nvSpPr>
            <p:spPr>
              <a:xfrm>
                <a:off x="7061283" y="6354246"/>
                <a:ext cx="24992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𝑑𝑒𝑚𝑎𝑛𝑑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=1,2×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𝑙𝑖𝑚</m:t>
                          </m:r>
                        </m:sub>
                      </m:sSub>
                    </m:oMath>
                  </m:oMathPara>
                </a14:m>
                <a:endParaRPr lang="fr-FR" b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03F20B7B-766D-0240-8679-8020EF9E8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283" y="6354246"/>
                <a:ext cx="249926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dre 12">
            <a:extLst>
              <a:ext uri="{FF2B5EF4-FFF2-40B4-BE49-F238E27FC236}">
                <a16:creationId xmlns:a16="http://schemas.microsoft.com/office/drawing/2014/main" id="{B28A0265-6BEE-9642-B19B-12E4652D0B45}"/>
              </a:ext>
            </a:extLst>
          </p:cNvPr>
          <p:cNvSpPr/>
          <p:nvPr/>
        </p:nvSpPr>
        <p:spPr>
          <a:xfrm>
            <a:off x="5257800" y="4093029"/>
            <a:ext cx="261257" cy="228600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Cadre 13">
            <a:extLst>
              <a:ext uri="{FF2B5EF4-FFF2-40B4-BE49-F238E27FC236}">
                <a16:creationId xmlns:a16="http://schemas.microsoft.com/office/drawing/2014/main" id="{E8426697-2D0E-F941-BF12-F5146A6C1080}"/>
              </a:ext>
            </a:extLst>
          </p:cNvPr>
          <p:cNvSpPr/>
          <p:nvPr/>
        </p:nvSpPr>
        <p:spPr>
          <a:xfrm>
            <a:off x="3369117" y="1857950"/>
            <a:ext cx="261257" cy="228600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Cadre 14">
            <a:extLst>
              <a:ext uri="{FF2B5EF4-FFF2-40B4-BE49-F238E27FC236}">
                <a16:creationId xmlns:a16="http://schemas.microsoft.com/office/drawing/2014/main" id="{C89426A6-3495-2D45-93BB-1C2EB67BA1DE}"/>
              </a:ext>
            </a:extLst>
          </p:cNvPr>
          <p:cNvSpPr/>
          <p:nvPr/>
        </p:nvSpPr>
        <p:spPr>
          <a:xfrm>
            <a:off x="8414659" y="5371806"/>
            <a:ext cx="261257" cy="228600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29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AE361A7F-1C2B-408D-9C95-CB57F3C84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404" y="3003042"/>
            <a:ext cx="4729514" cy="354713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Analyse</a:t>
            </a:r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 de 3 Points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importants</a:t>
            </a:r>
            <a:endParaRPr lang="fr-FR" sz="3200" b="1">
              <a:solidFill>
                <a:schemeClr val="accent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1C629D-B55F-5F47-B9DF-BFB02A5DF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88" y="147229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fr-FR">
                <a:ea typeface="+mn-lt"/>
                <a:cs typeface="+mn-lt"/>
              </a:rPr>
            </a:br>
            <a:endParaRPr lang="fr-FR">
              <a:ea typeface="+mn-lt"/>
              <a:cs typeface="+mn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6854"/>
            <a:ext cx="2743200" cy="365125"/>
          </a:xfrm>
        </p:spPr>
        <p:txBody>
          <a:bodyPr/>
          <a:lstStyle/>
          <a:p>
            <a:fld id="{27C6CCC6-2BE5-4E42-96A4-D1E8E81A3D8E}" type="slidenum">
              <a:rPr lang="fr-FR" smtClean="0"/>
              <a:t>22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77534A8-D529-8445-811A-2B0379303D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674" y="1393593"/>
            <a:ext cx="5713326" cy="263555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01D9CDA-D4D9-1146-BD3B-3C6A80032159}"/>
              </a:ext>
            </a:extLst>
          </p:cNvPr>
          <p:cNvSpPr txBox="1"/>
          <p:nvPr/>
        </p:nvSpPr>
        <p:spPr>
          <a:xfrm>
            <a:off x="7388778" y="4029152"/>
            <a:ext cx="3893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Rappel Figure 5 </a:t>
            </a:r>
            <a:r>
              <a:rPr lang="fr-FR"/>
              <a:t>: Réseau DC avec une charge de puissance constante et un filtre supraconducteur </a:t>
            </a:r>
            <a:r>
              <a:rPr lang="fr-FR" err="1"/>
              <a:t>ScPF</a:t>
            </a:r>
            <a:endParaRPr lang="fr-FR"/>
          </a:p>
        </p:txBody>
      </p:sp>
      <p:graphicFrame>
        <p:nvGraphicFramePr>
          <p:cNvPr id="10" name="Tableau 10">
            <a:extLst>
              <a:ext uri="{FF2B5EF4-FFF2-40B4-BE49-F238E27FC236}">
                <a16:creationId xmlns:a16="http://schemas.microsoft.com/office/drawing/2014/main" id="{2B010E07-9D96-7045-80D4-A8043C2C1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764982"/>
              </p:ext>
            </p:extLst>
          </p:nvPr>
        </p:nvGraphicFramePr>
        <p:xfrm>
          <a:off x="76062" y="1209367"/>
          <a:ext cx="5170716" cy="1773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572">
                  <a:extLst>
                    <a:ext uri="{9D8B030D-6E8A-4147-A177-3AD203B41FA5}">
                      <a16:colId xmlns:a16="http://schemas.microsoft.com/office/drawing/2014/main" val="33673004"/>
                    </a:ext>
                  </a:extLst>
                </a:gridCol>
                <a:gridCol w="1723572">
                  <a:extLst>
                    <a:ext uri="{9D8B030D-6E8A-4147-A177-3AD203B41FA5}">
                      <a16:colId xmlns:a16="http://schemas.microsoft.com/office/drawing/2014/main" val="1126713554"/>
                    </a:ext>
                  </a:extLst>
                </a:gridCol>
                <a:gridCol w="1723572">
                  <a:extLst>
                    <a:ext uri="{9D8B030D-6E8A-4147-A177-3AD203B41FA5}">
                      <a16:colId xmlns:a16="http://schemas.microsoft.com/office/drawing/2014/main" val="3130952876"/>
                    </a:ext>
                  </a:extLst>
                </a:gridCol>
              </a:tblGrid>
              <a:tr h="584695">
                <a:tc>
                  <a:txBody>
                    <a:bodyPr/>
                    <a:lstStyle/>
                    <a:p>
                      <a:r>
                        <a:rPr lang="fr-FR"/>
                        <a:t>Point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Point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Point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177433"/>
                  </a:ext>
                </a:extLst>
              </a:tr>
              <a:tr h="1042864">
                <a:tc>
                  <a:txBody>
                    <a:bodyPr/>
                    <a:lstStyle/>
                    <a:p>
                      <a:r>
                        <a:rPr lang="fr-FR"/>
                        <a:t>R</a:t>
                      </a:r>
                      <a:r>
                        <a:rPr lang="fr-FR" baseline="-25000"/>
                        <a:t>sh</a:t>
                      </a:r>
                      <a:r>
                        <a:rPr lang="fr-FR" baseline="0"/>
                        <a:t> = 0.0412</a:t>
                      </a:r>
                    </a:p>
                    <a:p>
                      <a:r>
                        <a:rPr lang="fr-FR" baseline="0"/>
                        <a:t>L</a:t>
                      </a:r>
                      <a:r>
                        <a:rPr lang="fr-FR" baseline="-25000"/>
                        <a:t>t</a:t>
                      </a:r>
                      <a:r>
                        <a:rPr lang="fr-FR" baseline="0"/>
                        <a:t> = 81.6607</a:t>
                      </a:r>
                    </a:p>
                    <a:p>
                      <a:r>
                        <a:rPr lang="fr-FR" baseline="0"/>
                        <a:t>n</a:t>
                      </a:r>
                      <a:r>
                        <a:rPr lang="fr-FR" baseline="-25000"/>
                        <a:t>t</a:t>
                      </a:r>
                      <a:r>
                        <a:rPr lang="fr-FR" baseline="0"/>
                        <a:t> = 2 </a:t>
                      </a:r>
                      <a:endParaRPr lang="fr-FR" baseline="-25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R</a:t>
                      </a:r>
                      <a:r>
                        <a:rPr lang="fr-FR" baseline="-25000"/>
                        <a:t>sh</a:t>
                      </a:r>
                      <a:r>
                        <a:rPr lang="fr-FR" baseline="0"/>
                        <a:t> = 0.0557 </a:t>
                      </a:r>
                    </a:p>
                    <a:p>
                      <a:r>
                        <a:rPr lang="fr-FR" baseline="0"/>
                        <a:t>L</a:t>
                      </a:r>
                      <a:r>
                        <a:rPr lang="fr-FR" baseline="-25000"/>
                        <a:t>t</a:t>
                      </a:r>
                      <a:r>
                        <a:rPr lang="fr-FR" baseline="0"/>
                        <a:t> = 47.3868</a:t>
                      </a:r>
                    </a:p>
                    <a:p>
                      <a:r>
                        <a:rPr lang="fr-FR" baseline="0"/>
                        <a:t>n</a:t>
                      </a:r>
                      <a:r>
                        <a:rPr lang="fr-FR" baseline="-25000"/>
                        <a:t>t</a:t>
                      </a:r>
                      <a:r>
                        <a:rPr lang="fr-FR" baseline="0"/>
                        <a:t> = 2 </a:t>
                      </a:r>
                      <a:endParaRPr lang="fr-FR" baseline="-25000"/>
                    </a:p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R</a:t>
                      </a:r>
                      <a:r>
                        <a:rPr lang="fr-FR" baseline="-25000"/>
                        <a:t>sh</a:t>
                      </a:r>
                      <a:r>
                        <a:rPr lang="fr-FR" baseline="0"/>
                        <a:t> = 0.0802</a:t>
                      </a:r>
                    </a:p>
                    <a:p>
                      <a:r>
                        <a:rPr lang="fr-FR" baseline="0"/>
                        <a:t>L</a:t>
                      </a:r>
                      <a:r>
                        <a:rPr lang="fr-FR" baseline="-25000"/>
                        <a:t>t</a:t>
                      </a:r>
                      <a:r>
                        <a:rPr lang="fr-FR" baseline="0"/>
                        <a:t> = 28.0254</a:t>
                      </a:r>
                    </a:p>
                    <a:p>
                      <a:r>
                        <a:rPr lang="fr-FR" baseline="0"/>
                        <a:t>n</a:t>
                      </a:r>
                      <a:r>
                        <a:rPr lang="fr-FR" baseline="-25000"/>
                        <a:t>t</a:t>
                      </a:r>
                      <a:r>
                        <a:rPr lang="fr-FR" baseline="0"/>
                        <a:t> = 2 </a:t>
                      </a:r>
                      <a:endParaRPr lang="fr-FR" baseline="-25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083386"/>
                  </a:ext>
                </a:extLst>
              </a:tr>
            </a:tbl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71B4650F-1797-4A39-BD18-0283872F6E02}"/>
              </a:ext>
            </a:extLst>
          </p:cNvPr>
          <p:cNvSpPr txBox="1"/>
          <p:nvPr/>
        </p:nvSpPr>
        <p:spPr>
          <a:xfrm>
            <a:off x="531588" y="2876814"/>
            <a:ext cx="4288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/>
              <a:t>Caractéristiques des 3 points importants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484480D-3868-42F6-9408-0574396583F0}"/>
              </a:ext>
            </a:extLst>
          </p:cNvPr>
          <p:cNvSpPr txBox="1"/>
          <p:nvPr/>
        </p:nvSpPr>
        <p:spPr>
          <a:xfrm>
            <a:off x="1945606" y="6277203"/>
            <a:ext cx="5132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i="1"/>
              <a:t>Tension, intensité, températures et pertes du filtre pour ces 3 points</a:t>
            </a:r>
          </a:p>
        </p:txBody>
      </p:sp>
    </p:spTree>
    <p:extLst>
      <p:ext uri="{BB962C8B-B14F-4D97-AF65-F5344CB8AC3E}">
        <p14:creationId xmlns:p14="http://schemas.microsoft.com/office/powerpoint/2010/main" val="912744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364"/>
            <a:ext cx="10515600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Evolution de la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Rsh</a:t>
            </a:r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/du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supraconducteur</a:t>
            </a:r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 pour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différentes</a:t>
            </a:r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valeurs</a:t>
            </a:r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 de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surpuissance</a:t>
            </a:r>
            <a:endParaRPr lang="fr-FR" sz="3200" b="1">
              <a:solidFill>
                <a:schemeClr val="accent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23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E91C858-5A3B-4024-BD13-F8F9C46A0657}"/>
              </a:ext>
            </a:extLst>
          </p:cNvPr>
          <p:cNvSpPr txBox="1"/>
          <p:nvPr/>
        </p:nvSpPr>
        <p:spPr>
          <a:xfrm>
            <a:off x="838200" y="2134927"/>
            <a:ext cx="101066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/>
              <a:t>Intérêt :</a:t>
            </a:r>
          </a:p>
          <a:p>
            <a:endParaRPr lang="fr-FR" sz="2000"/>
          </a:p>
          <a:p>
            <a:pPr marL="342900" indent="-342900">
              <a:buFontTx/>
              <a:buChar char="-"/>
            </a:pPr>
            <a:r>
              <a:rPr lang="fr-FR" sz="2000"/>
              <a:t>Un réacteur endommagé/détruit : jusqu’où peut-on en mobiliser un autre ?</a:t>
            </a:r>
          </a:p>
          <a:p>
            <a:pPr marL="342900" indent="-342900">
              <a:buFontTx/>
              <a:buChar char="-"/>
            </a:pPr>
            <a:endParaRPr lang="fr-FR" sz="2000"/>
          </a:p>
          <a:p>
            <a:pPr marL="342900" indent="-342900">
              <a:buFontTx/>
              <a:buChar char="-"/>
            </a:pPr>
            <a:r>
              <a:rPr lang="fr-FR" sz="2000"/>
              <a:t>Des problèmes de pressurisation, climatisation à compenser</a:t>
            </a:r>
          </a:p>
          <a:p>
            <a:pPr marL="342900" indent="-342900">
              <a:buFontTx/>
              <a:buChar char="-"/>
            </a:pPr>
            <a:endParaRPr lang="fr-FR" sz="2000"/>
          </a:p>
          <a:p>
            <a:pPr marL="342900" indent="-342900">
              <a:buFontTx/>
              <a:buChar char="-"/>
            </a:pPr>
            <a:r>
              <a:rPr lang="fr-FR" sz="2000"/>
              <a:t>En général, lors de la descente/montée de l’avion : plus d’énergie nécessaire (dépliement du train d’atterrissage par exemple)</a:t>
            </a:r>
          </a:p>
          <a:p>
            <a:pPr marL="342900" indent="-342900">
              <a:buFontTx/>
              <a:buChar char="-"/>
            </a:pPr>
            <a:endParaRPr lang="fr-FR" sz="2000"/>
          </a:p>
          <a:p>
            <a:pPr marL="342900" indent="-342900">
              <a:buFontTx/>
              <a:buChar char="-"/>
            </a:pPr>
            <a:r>
              <a:rPr lang="fr-FR" sz="2000"/>
              <a:t>Premier aperçu de l’impact sur le CAPEX des valeurs de surpuissance</a:t>
            </a:r>
          </a:p>
        </p:txBody>
      </p:sp>
    </p:spTree>
    <p:extLst>
      <p:ext uri="{BB962C8B-B14F-4D97-AF65-F5344CB8AC3E}">
        <p14:creationId xmlns:p14="http://schemas.microsoft.com/office/powerpoint/2010/main" val="4259222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6D97789C-7B6D-4322-AE3D-863612A36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666" y="1366339"/>
            <a:ext cx="6666667" cy="5000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Fronts de pareto pour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différentes</a:t>
            </a:r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valeurs</a:t>
            </a:r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 de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surpuissance</a:t>
            </a:r>
            <a:endParaRPr lang="fr-FR" sz="3200" b="1">
              <a:solidFill>
                <a:schemeClr val="accent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24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E91C858-5A3B-4024-BD13-F8F9C46A0657}"/>
                  </a:ext>
                </a:extLst>
              </p:cNvPr>
              <p:cNvSpPr txBox="1"/>
              <p:nvPr/>
            </p:nvSpPr>
            <p:spPr>
              <a:xfrm>
                <a:off x="194873" y="2712177"/>
                <a:ext cx="299830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/>
                  <a:t>Observations :</a:t>
                </a:r>
                <a:br>
                  <a:rPr lang="fr-FR"/>
                </a:br>
                <a:r>
                  <a:rPr lang="fr-FR"/>
                  <a:t>- Front de Pareto peut stable (limité par le temps de calcul)</a:t>
                </a:r>
              </a:p>
              <a:p>
                <a:endParaRPr lang="fr-FR"/>
              </a:p>
              <a:p>
                <a:pPr marL="285750" indent="-285750">
                  <a:buFontTx/>
                  <a:buChar char="-"/>
                </a:pPr>
                <a:r>
                  <a:rPr lang="fr-FR"/>
                  <a:t>A quantité de matière égale, augmentation de la </a:t>
                </a:r>
                <a:r>
                  <a:rPr lang="fr-FR" err="1"/>
                  <a:t>Rsh</a:t>
                </a:r>
                <a:r>
                  <a:rPr lang="fr-FR"/>
                  <a:t> quand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/>
                  <a:t> augmente</a:t>
                </a:r>
              </a:p>
              <a:p>
                <a:pPr marL="285750" indent="-285750">
                  <a:buFontTx/>
                  <a:buChar char="-"/>
                </a:pPr>
                <a:endParaRPr lang="fr-FR"/>
              </a:p>
              <a:p>
                <a:pPr marL="285750" indent="-285750">
                  <a:buFontTx/>
                  <a:buChar char="-"/>
                </a:pPr>
                <a:r>
                  <a:rPr lang="fr-FR"/>
                  <a:t>Pour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/>
                  <a:t> &gt;1,4 Augmentation soudaine </a:t>
                </a:r>
              </a:p>
              <a:p>
                <a:endParaRPr lang="fr-FR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E91C858-5A3B-4024-BD13-F8F9C46A0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73" y="2712177"/>
                <a:ext cx="2998300" cy="3139321"/>
              </a:xfrm>
              <a:prstGeom prst="rect">
                <a:avLst/>
              </a:prstGeom>
              <a:blipFill>
                <a:blip r:embed="rId6"/>
                <a:stretch>
                  <a:fillRect l="-1829" t="-1165" r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7963062C-094E-4ACC-9B55-976B03D1C6C1}"/>
                  </a:ext>
                </a:extLst>
              </p:cNvPr>
              <p:cNvSpPr txBox="1"/>
              <p:nvPr/>
            </p:nvSpPr>
            <p:spPr>
              <a:xfrm>
                <a:off x="8917173" y="3057826"/>
                <a:ext cx="24992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𝑑𝑒𝑚𝑎𝑛𝑑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𝑙𝑖𝑚</m:t>
                          </m:r>
                        </m:sub>
                      </m:sSub>
                    </m:oMath>
                  </m:oMathPara>
                </a14:m>
                <a:endParaRPr lang="fr-FR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7963062C-094E-4ACC-9B55-976B03D1C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173" y="3057826"/>
                <a:ext cx="2499264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22550C8-7A82-B244-B5CB-607A906C6F78}"/>
                  </a:ext>
                </a:extLst>
              </p:cNvPr>
              <p:cNvSpPr txBox="1"/>
              <p:nvPr/>
            </p:nvSpPr>
            <p:spPr>
              <a:xfrm>
                <a:off x="1190852" y="6350223"/>
                <a:ext cx="9810293" cy="3693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b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Figure 8</a:t>
                </a:r>
                <a:r>
                  <a:rPr lang="en-US" altLang="ja-JP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– Fronts de Pareto </a:t>
                </a:r>
                <a:r>
                  <a:rPr lang="en-US" altLang="ja-JP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obtenu</a:t>
                </a:r>
                <a:r>
                  <a:rPr lang="en-US" altLang="ja-JP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pour </a:t>
                </a:r>
                <a:r>
                  <a:rPr lang="en-US" altLang="ja-JP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différentes</a:t>
                </a:r>
                <a:r>
                  <a:rPr lang="en-US" altLang="ja-JP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</a:t>
                </a:r>
                <a:r>
                  <a:rPr lang="en-US" altLang="ja-JP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valeurs</a:t>
                </a:r>
                <a:r>
                  <a:rPr lang="en-US" altLang="ja-JP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de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𝛼</m:t>
                    </m:r>
                  </m:oMath>
                </a14:m>
                <a:r>
                  <a:rPr lang="en-US" altLang="ja-JP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 </a:t>
                </a: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22550C8-7A82-B244-B5CB-607A906C6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852" y="6350223"/>
                <a:ext cx="9810293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639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6AB732CF-E941-462C-97C2-5D682E7A5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748" y="1702096"/>
            <a:ext cx="6154507" cy="461588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Fronts de pareto pour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différentes</a:t>
            </a:r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valeurs</a:t>
            </a:r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 de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surpuissance</a:t>
            </a:r>
            <a:endParaRPr lang="fr-FR" sz="3200" b="1">
              <a:solidFill>
                <a:schemeClr val="accent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25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E91C858-5A3B-4024-BD13-F8F9C46A0657}"/>
                  </a:ext>
                </a:extLst>
              </p:cNvPr>
              <p:cNvSpPr txBox="1"/>
              <p:nvPr/>
            </p:nvSpPr>
            <p:spPr>
              <a:xfrm>
                <a:off x="276529" y="2847684"/>
                <a:ext cx="29983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/>
                  <a:t>Intérêt :</a:t>
                </a:r>
                <a:br>
                  <a:rPr lang="fr-FR"/>
                </a:br>
                <a:r>
                  <a:rPr lang="fr-FR"/>
                  <a:t>- 0,025</a:t>
                </a:r>
                <a:r>
                  <a:rPr lang="el-GR"/>
                  <a:t>Ω</a:t>
                </a:r>
                <a:r>
                  <a:rPr lang="fr-FR"/>
                  <a:t> de plus que pour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𝛼</m:t>
                    </m:r>
                    <m:r>
                      <a:rPr lang="fr-FR" altLang="ja-JP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=1,5</m:t>
                    </m:r>
                  </m:oMath>
                </a14:m>
                <a:r>
                  <a:rPr lang="fr-FR"/>
                  <a:t>  </a:t>
                </a:r>
              </a:p>
              <a:p>
                <a:pPr marL="285750" indent="-285750">
                  <a:buFontTx/>
                  <a:buChar char="-"/>
                </a:pPr>
                <a:r>
                  <a:rPr lang="fr-FR"/>
                  <a:t>En augmentant nt*</a:t>
                </a:r>
                <a:r>
                  <a:rPr lang="fr-FR" err="1"/>
                  <a:t>Lt</a:t>
                </a:r>
                <a:r>
                  <a:rPr lang="fr-FR"/>
                  <a:t> </a:t>
                </a:r>
                <a:br>
                  <a:rPr lang="fr-FR"/>
                </a:br>
                <a:r>
                  <a:rPr lang="fr-FR"/>
                  <a:t>      -&gt; zone </a:t>
                </a:r>
                <a:r>
                  <a:rPr lang="fr-FR" err="1"/>
                  <a:t>Rsh</a:t>
                </a:r>
                <a:r>
                  <a:rPr lang="fr-FR"/>
                  <a:t>  déjà atteinte pour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𝛼</m:t>
                    </m:r>
                    <m:r>
                      <a:rPr lang="fr-FR" altLang="ja-JP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=1,2</m:t>
                    </m:r>
                  </m:oMath>
                </a14:m>
                <a:endParaRPr lang="fr-FR" altLang="ja-JP" b="0">
                  <a:solidFill>
                    <a:srgbClr val="000000"/>
                  </a:solidFill>
                  <a:ea typeface="Cambria Math" panose="02040503050406030204" pitchFamily="18" charset="0"/>
                  <a:cs typeface="Lucida Sans Unicode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fr-FR"/>
                  <a:t>Des températures atteintes acceptables</a:t>
                </a:r>
              </a:p>
              <a:p>
                <a:pPr marL="285750" indent="-285750">
                  <a:buFontTx/>
                  <a:buChar char="-"/>
                </a:pPr>
                <a:r>
                  <a:rPr lang="fr-FR"/>
                  <a:t>Mais un CAPEX plus important</a:t>
                </a: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E91C858-5A3B-4024-BD13-F8F9C46A0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29" y="2847684"/>
                <a:ext cx="2998300" cy="2862322"/>
              </a:xfrm>
              <a:prstGeom prst="rect">
                <a:avLst/>
              </a:prstGeom>
              <a:blipFill>
                <a:blip r:embed="rId6"/>
                <a:stretch>
                  <a:fillRect l="-1626" t="-1064" b="-2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7963062C-094E-4ACC-9B55-976B03D1C6C1}"/>
                  </a:ext>
                </a:extLst>
              </p:cNvPr>
              <p:cNvSpPr txBox="1"/>
              <p:nvPr/>
            </p:nvSpPr>
            <p:spPr>
              <a:xfrm>
                <a:off x="9092271" y="3825370"/>
                <a:ext cx="24992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𝑑𝑒𝑚𝑎𝑛𝑑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𝑙𝑖𝑚</m:t>
                          </m:r>
                        </m:sub>
                      </m:sSub>
                    </m:oMath>
                  </m:oMathPara>
                </a14:m>
                <a:endParaRPr lang="fr-FR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7963062C-094E-4ACC-9B55-976B03D1C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271" y="3825370"/>
                <a:ext cx="2499264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22550C8-7A82-B244-B5CB-607A906C6F78}"/>
                  </a:ext>
                </a:extLst>
              </p:cNvPr>
              <p:cNvSpPr txBox="1"/>
              <p:nvPr/>
            </p:nvSpPr>
            <p:spPr>
              <a:xfrm>
                <a:off x="1190852" y="6350223"/>
                <a:ext cx="9810293" cy="3693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b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Figure 9</a:t>
                </a:r>
                <a:r>
                  <a:rPr lang="en-US" altLang="ja-JP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– Fronts de Pareto </a:t>
                </a:r>
                <a:r>
                  <a:rPr lang="en-US" altLang="ja-JP" err="1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obtenu</a:t>
                </a:r>
                <a:r>
                  <a:rPr lang="en-US" altLang="ja-JP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pour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𝛼</m:t>
                    </m:r>
                    <m:r>
                      <a:rPr lang="fr-FR" altLang="ja-JP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=2</m:t>
                    </m:r>
                  </m:oMath>
                </a14:m>
                <a:r>
                  <a:rPr lang="en-US" altLang="ja-JP">
                    <a:solidFill>
                      <a:srgbClr val="000000"/>
                    </a:solidFill>
                    <a:ea typeface="Lucida Sans Unicode" charset="0"/>
                    <a:cs typeface="Lucida Sans Unicode"/>
                  </a:rPr>
                  <a:t>  </a:t>
                </a: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22550C8-7A82-B244-B5CB-607A906C6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852" y="6350223"/>
                <a:ext cx="9810293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624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fr-FR" sz="3200" b="1">
                <a:solidFill>
                  <a:srgbClr val="0070C0"/>
                </a:solidFill>
              </a:rPr>
              <a:t>Nouveau problème multi-objectif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26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2D08D5B-4472-6B4C-8F01-13B0328CAB5B}"/>
                  </a:ext>
                </a:extLst>
              </p:cNvPr>
              <p:cNvSpPr/>
              <p:nvPr/>
            </p:nvSpPr>
            <p:spPr>
              <a:xfrm>
                <a:off x="176441" y="1638209"/>
                <a:ext cx="11225893" cy="16385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1400"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𝑀𝑖𝑛𝑖𝑚𝑖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lim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𝑅𝑠h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𝐿𝑡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) ∈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𝐷𝑜𝑚𝑎𝑖𝑛𝑒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𝑃𝑒𝑟𝑡𝑒</m:t>
                              </m:r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𝐽𝑜𝑢𝑙𝑒</m:t>
                                  </m:r>
                                </m:sub>
                              </m:s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𝑐𝑜𝑜𝑙𝑖𝑛𝑔</m:t>
                                  </m:r>
                                </m:sub>
                              </m:s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𝐿𝑡</m:t>
                              </m:r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𝑠𝑜𝑢𝑠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𝑐𝑜𝑛𝑡𝑟𝑎𝑖𝑛𝑡𝑒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 :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𝑙𝑒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é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𝑔𝑖𝑚𝑒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𝑒𝑠𝑡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𝑠𝑡𝑎𝑏𝑙𝑒</m:t>
                                  </m:r>
                                </m:e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𝑇𝑐𝑟𝑖𝑡𝑖𝑞𝑢𝑒</m:t>
                                  </m:r>
                                </m:e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𝑉𝑐𝑝𝑙</m:t>
                                  </m:r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&lt;0</m:t>
                                  </m:r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fr-FR" sz="16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𝐴𝑣𝑒𝑐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𝑃𝑒𝑟𝑡𝑒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𝐽𝑜𝑢𝑙𝑒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𝐶𝑃𝐿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fr-FR" sz="20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>
                  <a:cs typeface="Calibri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2D08D5B-4472-6B4C-8F01-13B0328CA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41" y="1638209"/>
                <a:ext cx="11225893" cy="16385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49F9E58-4F38-8C4E-A5CB-F70DDF3BF928}"/>
                  </a:ext>
                </a:extLst>
              </p:cNvPr>
              <p:cNvSpPr txBox="1"/>
              <p:nvPr/>
            </p:nvSpPr>
            <p:spPr>
              <a:xfrm>
                <a:off x="553413" y="3690257"/>
                <a:ext cx="6417129" cy="2915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/>
                  <a:t>Domaine 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𝑛𝑡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⟦"/>
                                <m:endChr m:val="⟧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  <m:e/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𝐿𝑡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∈[1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, 100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eqArr>
                      </m:e>
                    </m:d>
                  </m:oMath>
                </a14:m>
                <a:endParaRPr lang="fr-FR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fr-FR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/>
                  <a:t>Paramètres fixes : R, L, C, V</a:t>
                </a:r>
                <a:r>
                  <a:rPr lang="fr-FR" baseline="-25000"/>
                  <a:t>e</a:t>
                </a:r>
                <a:r>
                  <a:rPr lang="fr-FR"/>
                  <a:t>, </a:t>
                </a:r>
                <a:r>
                  <a:rPr lang="fr-FR" err="1"/>
                  <a:t>P</a:t>
                </a:r>
                <a:r>
                  <a:rPr lang="fr-FR" baseline="-25000" err="1"/>
                  <a:t>ref</a:t>
                </a:r>
                <a:r>
                  <a:rPr lang="fr-FR"/>
                  <a:t>, </a:t>
                </a:r>
                <a:r>
                  <a:rPr lang="fr-FR" err="1"/>
                  <a:t>R</a:t>
                </a:r>
                <a:r>
                  <a:rPr lang="fr-FR" baseline="-25000" err="1"/>
                  <a:t>sh</a:t>
                </a:r>
                <a:endParaRPr lang="fr-FR" baseline="-25000"/>
              </a:p>
              <a:p>
                <a:endParaRPr lang="fr-FR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fr-FR"/>
                  <a:t>La contrainte –V</a:t>
                </a:r>
                <a:r>
                  <a:rPr lang="fr-FR" baseline="-25000"/>
                  <a:t>CPL</a:t>
                </a:r>
                <a:r>
                  <a:rPr lang="fr-FR"/>
                  <a:t> &lt; 0 est déjà comprise dans le fichier </a:t>
                </a:r>
                <a:r>
                  <a:rPr lang="fr-FR" err="1"/>
                  <a:t>simulink</a:t>
                </a:r>
                <a:endParaRPr lang="fr-FR"/>
              </a:p>
              <a:p>
                <a:endParaRPr lang="fr-FR"/>
              </a:p>
              <a:p>
                <a:endParaRPr lang="fr-FR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49F9E58-4F38-8C4E-A5CB-F70DDF3BF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13" y="3690257"/>
                <a:ext cx="6417129" cy="2915606"/>
              </a:xfrm>
              <a:prstGeom prst="rect">
                <a:avLst/>
              </a:prstGeom>
              <a:blipFill>
                <a:blip r:embed="rId6"/>
                <a:stretch>
                  <a:fillRect l="-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 9">
            <a:extLst>
              <a:ext uri="{FF2B5EF4-FFF2-40B4-BE49-F238E27FC236}">
                <a16:creationId xmlns:a16="http://schemas.microsoft.com/office/drawing/2014/main" id="{C4D18C8A-E219-DE4D-BD9B-7A30EB577D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6015" y="3400919"/>
            <a:ext cx="4418746" cy="203836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DEA41E7-6536-9C42-B8DA-FEDD9EAF3690}"/>
              </a:ext>
            </a:extLst>
          </p:cNvPr>
          <p:cNvSpPr txBox="1"/>
          <p:nvPr/>
        </p:nvSpPr>
        <p:spPr>
          <a:xfrm>
            <a:off x="7643788" y="5423256"/>
            <a:ext cx="2743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/>
              <a:t>Rappel Figure 5 </a:t>
            </a:r>
            <a:r>
              <a:rPr lang="fr-FR" sz="1400"/>
              <a:t>: Réseau DC avec une charge de puissance constante et un filtre supraconducteur </a:t>
            </a:r>
            <a:r>
              <a:rPr lang="fr-FR" sz="1400" err="1"/>
              <a:t>ScPF</a:t>
            </a:r>
            <a:endParaRPr lang="fr-FR" sz="140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DBE82266-6EAD-C642-99FD-C7F0D80FEA41}"/>
              </a:ext>
            </a:extLst>
          </p:cNvPr>
          <p:cNvCxnSpPr/>
          <p:nvPr/>
        </p:nvCxnSpPr>
        <p:spPr>
          <a:xfrm>
            <a:off x="6461760" y="3400919"/>
            <a:ext cx="0" cy="29554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00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2C23774A-4329-9940-999D-C03605277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683" y="1650731"/>
            <a:ext cx="6304633" cy="472847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30" y="80950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1">
                <a:solidFill>
                  <a:schemeClr val="accent1"/>
                </a:solidFill>
                <a:cs typeface="Lucida Sans Unicode" charset="0"/>
              </a:rPr>
              <a:t>Optimisation CAPEX/OPEX</a:t>
            </a:r>
            <a:endParaRPr lang="fr-FR" sz="3200" b="1">
              <a:solidFill>
                <a:schemeClr val="accent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1C629D-B55F-5F47-B9DF-BFB02A5DF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88" y="147229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fr-FR">
                <a:ea typeface="+mn-lt"/>
                <a:cs typeface="+mn-lt"/>
              </a:rPr>
            </a:br>
            <a:endParaRPr lang="fr-FR">
              <a:ea typeface="+mn-lt"/>
              <a:cs typeface="+mn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27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8">
            <a:extLst>
              <a:ext uri="{FF2B5EF4-FFF2-40B4-BE49-F238E27FC236}">
                <a16:creationId xmlns:a16="http://schemas.microsoft.com/office/drawing/2014/main" id="{80BB7F34-89F2-5D4A-BDB2-0B94EC074203}"/>
              </a:ext>
            </a:extLst>
          </p:cNvPr>
          <p:cNvSpPr txBox="1"/>
          <p:nvPr/>
        </p:nvSpPr>
        <p:spPr>
          <a:xfrm>
            <a:off x="1190852" y="6350223"/>
            <a:ext cx="981029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b="1">
                <a:solidFill>
                  <a:srgbClr val="000000"/>
                </a:solidFill>
                <a:ea typeface="Lucida Sans Unicode" charset="0"/>
                <a:cs typeface="Lucida Sans Unicode"/>
              </a:rPr>
              <a:t>Figure 10</a:t>
            </a:r>
            <a:r>
              <a:rPr lang="en-U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– Fronts de Pareto </a:t>
            </a:r>
            <a:r>
              <a:rPr lang="es-E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obtenu</a:t>
            </a:r>
            <a:r>
              <a:rPr lang="es-E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s-E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pour</a:t>
            </a:r>
            <a:r>
              <a:rPr lang="es-E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s-ES" altLang="ja-JP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l’optimisation</a:t>
            </a:r>
            <a:r>
              <a:rPr lang="es-ES" altLang="ja-JP">
                <a:solidFill>
                  <a:srgbClr val="000000"/>
                </a:solidFill>
                <a:ea typeface="Lucida Sans Unicode" charset="0"/>
                <a:cs typeface="Lucida Sans Unicode"/>
              </a:rPr>
              <a:t> CAPEX</a:t>
            </a: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46A1AAB-81DC-6E4F-85C5-DA9CAD559D68}"/>
              </a:ext>
            </a:extLst>
          </p:cNvPr>
          <p:cNvSpPr txBox="1"/>
          <p:nvPr/>
        </p:nvSpPr>
        <p:spPr>
          <a:xfrm>
            <a:off x="9007332" y="4722929"/>
            <a:ext cx="1293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/>
              <a:t>15 générations</a:t>
            </a:r>
          </a:p>
          <a:p>
            <a:r>
              <a:rPr lang="fr-FR" sz="1400"/>
              <a:t>30 individus</a:t>
            </a:r>
          </a:p>
        </p:txBody>
      </p:sp>
    </p:spTree>
    <p:extLst>
      <p:ext uri="{BB962C8B-B14F-4D97-AF65-F5344CB8AC3E}">
        <p14:creationId xmlns:p14="http://schemas.microsoft.com/office/powerpoint/2010/main" val="684786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Conclusion sur les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différentes</a:t>
            </a:r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valeurs</a:t>
            </a:r>
            <a:r>
              <a:rPr lang="en-US" altLang="ja-JP" sz="3200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 de </a:t>
            </a:r>
            <a:r>
              <a:rPr lang="en-US" altLang="ja-JP" sz="3200" err="1">
                <a:solidFill>
                  <a:schemeClr val="accent1"/>
                </a:solidFill>
                <a:ea typeface="Lucida Sans Unicode" charset="0"/>
                <a:cs typeface="Lucida Sans Unicode" charset="0"/>
              </a:rPr>
              <a:t>surpuissance</a:t>
            </a:r>
            <a:endParaRPr lang="fr-FR" sz="3200" b="1">
              <a:solidFill>
                <a:schemeClr val="accent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28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E91C858-5A3B-4024-BD13-F8F9C46A0657}"/>
              </a:ext>
            </a:extLst>
          </p:cNvPr>
          <p:cNvSpPr txBox="1"/>
          <p:nvPr/>
        </p:nvSpPr>
        <p:spPr>
          <a:xfrm>
            <a:off x="1536534" y="2134927"/>
            <a:ext cx="896077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/>
              <a:t>De </a:t>
            </a:r>
            <a:r>
              <a:rPr lang="fr-FR" sz="2000" b="1"/>
              <a:t>nombreuses valeurs de surpuissance </a:t>
            </a:r>
            <a:r>
              <a:rPr lang="fr-FR" sz="2000"/>
              <a:t>peuvent être acceptées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/>
              <a:t>La phase d’atterrissage/décollage peut être électrifiée : diminuer la puissance en régime permanent, augmenter la surpuissance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/>
              <a:t>Plus de </a:t>
            </a:r>
            <a:r>
              <a:rPr lang="fr-FR" sz="2000" b="1"/>
              <a:t>sécurité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/>
              <a:t>Augmentation du CAPEX avec la surpuissance</a:t>
            </a:r>
            <a:r>
              <a:rPr lang="fr-FR" sz="2000"/>
              <a:t> (soit par la longueur du supraconducteur, soit par la nécessité de refroidir d’avantage) -&gt; Optimisation nécessaire </a:t>
            </a:r>
          </a:p>
          <a:p>
            <a:pPr marL="285750" indent="-285750">
              <a:buFontTx/>
              <a:buChar char="-"/>
            </a:pPr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2740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213AB8-73EB-454E-88A8-9EC7AD6C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30" y="80950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1">
                <a:solidFill>
                  <a:schemeClr val="accent1"/>
                </a:solidFill>
                <a:cs typeface="Lucida Sans Unicode" charset="0"/>
              </a:rPr>
              <a:t>Temps de calcul et limites </a:t>
            </a:r>
            <a:endParaRPr lang="fr-FR" sz="3200" b="1">
              <a:solidFill>
                <a:schemeClr val="accent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1C629D-B55F-5F47-B9DF-BFB02A5DF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88" y="147229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fr-FR">
                <a:ea typeface="+mn-lt"/>
                <a:cs typeface="+mn-lt"/>
              </a:rPr>
            </a:br>
            <a:endParaRPr lang="fr-FR">
              <a:ea typeface="+mn-lt"/>
              <a:cs typeface="+mn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BBECF38-969D-7142-A3E5-B55274DD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09FD09-2283-0C44-AE7D-237553B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29</a:t>
            </a:fld>
            <a:endParaRPr lang="fr-FR"/>
          </a:p>
        </p:txBody>
      </p:sp>
      <p:pic>
        <p:nvPicPr>
          <p:cNvPr id="7" name="Picture 4" descr="CentraleSupélec - Wikipedia">
            <a:extLst>
              <a:ext uri="{FF2B5EF4-FFF2-40B4-BE49-F238E27FC236}">
                <a16:creationId xmlns:a16="http://schemas.microsoft.com/office/drawing/2014/main" id="{6D431715-F2EA-8445-8C45-577FAD6F8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30DD589-6ED4-4401-BDCF-E50040906C71}"/>
              </a:ext>
            </a:extLst>
          </p:cNvPr>
          <p:cNvSpPr txBox="1"/>
          <p:nvPr/>
        </p:nvSpPr>
        <p:spPr>
          <a:xfrm>
            <a:off x="531588" y="2248227"/>
            <a:ext cx="1112882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/>
              <a:t>Code au départ très lent : </a:t>
            </a:r>
            <a:r>
              <a:rPr lang="fr-FR" sz="2000" b="1"/>
              <a:t>6h de calcul pour 7 points </a:t>
            </a:r>
            <a:r>
              <a:rPr lang="fr-FR" sz="2000"/>
              <a:t>du front de Pareto </a:t>
            </a:r>
          </a:p>
          <a:p>
            <a:pPr lvl="1"/>
            <a:r>
              <a:rPr lang="fr-FR" sz="2000"/>
              <a:t>-&gt; revoir les conditions de stop et de stabilité -&gt; optimiser le temps de calcul </a:t>
            </a:r>
            <a:br>
              <a:rPr lang="fr-FR" sz="2000"/>
            </a:br>
            <a:r>
              <a:rPr lang="fr-FR" sz="2000"/>
              <a:t>Très dépendant de l’initialisation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/>
              <a:t>Suite aux premiers résultats : réduction de l’impact des contraintes et du nombre d’individus : </a:t>
            </a:r>
            <a:r>
              <a:rPr lang="fr-FR" sz="2000" b="1"/>
              <a:t>5 points en 2h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/>
              <a:t>Départ du front de Pareto alors obtenu : </a:t>
            </a:r>
            <a:r>
              <a:rPr lang="fr-FR" sz="2000" b="1"/>
              <a:t>18 points en 2h supplémentaires </a:t>
            </a:r>
            <a:r>
              <a:rPr lang="fr-FR" sz="2000"/>
              <a:t>(plusieurs répétitions)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/>
              <a:t>Front </a:t>
            </a:r>
            <a:r>
              <a:rPr lang="fr-FR" sz="2000" b="1"/>
              <a:t>discontinu</a:t>
            </a:r>
          </a:p>
          <a:p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19261502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5BC9E1-30E9-460E-B4C4-6C80ABF59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/>
              <a:t>Travail actuel sur des paramètres de réseaux généraux</a:t>
            </a:r>
          </a:p>
          <a:p>
            <a:pPr marL="0" indent="0">
              <a:buNone/>
            </a:pPr>
            <a:endParaRPr lang="fr-FR" sz="2400"/>
          </a:p>
          <a:p>
            <a:pPr marL="0" indent="0">
              <a:buNone/>
            </a:pPr>
            <a:r>
              <a:rPr lang="fr-FR" sz="2400"/>
              <a:t>Prochaines simulation sur des vraies données d’avion </a:t>
            </a:r>
          </a:p>
          <a:p>
            <a:pPr marL="0" indent="0">
              <a:buNone/>
            </a:pPr>
            <a:endParaRPr lang="fr-FR" sz="2400"/>
          </a:p>
          <a:p>
            <a:r>
              <a:rPr lang="fr-FR" sz="2400"/>
              <a:t>Prise de contact initiée, préparation de slide synthèse de nos objectifs et de notre travail</a:t>
            </a:r>
          </a:p>
          <a:p>
            <a:pPr marL="0" indent="0">
              <a:buNone/>
            </a:pP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6DF7F1-F005-4426-952A-8CDE4045C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30</a:t>
            </a:fld>
            <a:endParaRPr lang="fr-FR"/>
          </a:p>
        </p:txBody>
      </p:sp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AA891D90-2F7A-47DA-B229-132E922C4CB7}"/>
              </a:ext>
            </a:extLst>
          </p:cNvPr>
          <p:cNvSpPr/>
          <p:nvPr/>
        </p:nvSpPr>
        <p:spPr>
          <a:xfrm>
            <a:off x="343284" y="2694130"/>
            <a:ext cx="416944" cy="4456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0D53BA7-6BDD-2747-9EBD-DEC8B8483E10}"/>
              </a:ext>
            </a:extLst>
          </p:cNvPr>
          <p:cNvSpPr txBox="1">
            <a:spLocks/>
          </p:cNvSpPr>
          <p:nvPr/>
        </p:nvSpPr>
        <p:spPr>
          <a:xfrm>
            <a:off x="916172" y="7134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200" b="1">
                <a:solidFill>
                  <a:srgbClr val="0070C0"/>
                </a:solidFill>
              </a:rPr>
              <a:t>Collaboration avec </a:t>
            </a:r>
            <a:r>
              <a:rPr lang="fr-FR" sz="3200" b="1" err="1">
                <a:solidFill>
                  <a:srgbClr val="0070C0"/>
                </a:solidFill>
              </a:rPr>
              <a:t>SafranTech</a:t>
            </a:r>
            <a:endParaRPr lang="fr-FR" sz="3200" b="1">
              <a:solidFill>
                <a:srgbClr val="0070C0"/>
              </a:solidFill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EE603D2-F60F-47C8-9B8E-7CA33F752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entraleSupélec - Wikipedia">
            <a:extLst>
              <a:ext uri="{FF2B5EF4-FFF2-40B4-BE49-F238E27FC236}">
                <a16:creationId xmlns:a16="http://schemas.microsoft.com/office/drawing/2014/main" id="{A9A1F02D-2AB5-486E-87C7-5932A6426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E587BA1-727C-42D6-9FB3-152886192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302" y="4819003"/>
            <a:ext cx="6042498" cy="1294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675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C53B0689-7D03-F04C-8341-6FE0A9701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0300" y="1134000"/>
            <a:ext cx="8640000" cy="5724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b="1">
                <a:solidFill>
                  <a:srgbClr val="0070C0"/>
                </a:solidFill>
                <a:ea typeface="Lucida Sans Unicode" charset="0"/>
                <a:cs typeface="Lucida Sans Unicode"/>
              </a:rPr>
              <a:t>V. Conclusion</a:t>
            </a:r>
          </a:p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Domaine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récent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 :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peu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 de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données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exploitables</a:t>
            </a: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Modèle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 DC très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réducteur</a:t>
            </a: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Résultats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d’optimisation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viables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 (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surpuissance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, CAPEX, Longueur du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supreconducteur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…)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Nombreuses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possibilités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d’améliorations</a:t>
            </a: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Capacités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 de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calculs</a:t>
            </a:r>
            <a:r>
              <a:rPr lang="en-US" altLang="ja-JP" sz="2400">
                <a:solidFill>
                  <a:srgbClr val="000000"/>
                </a:solidFill>
                <a:ea typeface="Lucida Sans Unicode" charset="0"/>
                <a:cs typeface="Lucida Sans Unicode"/>
              </a:rPr>
              <a:t> </a:t>
            </a:r>
            <a:r>
              <a:rPr lang="en-US" altLang="ja-JP" sz="2400" err="1">
                <a:solidFill>
                  <a:srgbClr val="000000"/>
                </a:solidFill>
                <a:ea typeface="Lucida Sans Unicode" charset="0"/>
                <a:cs typeface="Lucida Sans Unicode"/>
              </a:rPr>
              <a:t>limitées</a:t>
            </a: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7074F0C-6878-734A-BE4D-EF1776C63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286B87C-0930-9A4B-96AA-DABAE229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31</a:t>
            </a:fld>
            <a:endParaRPr lang="fr-FR"/>
          </a:p>
        </p:txBody>
      </p:sp>
      <p:pic>
        <p:nvPicPr>
          <p:cNvPr id="6" name="Picture 4" descr="CentraleSupélec - Wikipedia">
            <a:extLst>
              <a:ext uri="{FF2B5EF4-FFF2-40B4-BE49-F238E27FC236}">
                <a16:creationId xmlns:a16="http://schemas.microsoft.com/office/drawing/2014/main" id="{DBFB2725-D936-A145-A24F-1BB24D25C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1725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C53B0689-7D03-F04C-8341-6FE0A9701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6000" y="3286606"/>
            <a:ext cx="8640000" cy="88850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b="1">
                <a:solidFill>
                  <a:srgbClr val="0070C0"/>
                </a:solidFill>
                <a:ea typeface="Lucida Sans Unicode" charset="0"/>
                <a:cs typeface="Lucida Sans Unicode"/>
              </a:rPr>
              <a:t>Merci pour </a:t>
            </a:r>
            <a:r>
              <a:rPr lang="en-US" altLang="ja-JP" sz="3200" b="1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votre</a:t>
            </a:r>
            <a:r>
              <a:rPr lang="en-US" altLang="ja-JP" sz="3200" b="1">
                <a:solidFill>
                  <a:srgbClr val="0070C0"/>
                </a:solidFill>
                <a:ea typeface="Lucida Sans Unicode" charset="0"/>
                <a:cs typeface="Lucida Sans Unicode"/>
              </a:rPr>
              <a:t> attention !</a:t>
            </a:r>
          </a:p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7074F0C-6878-734A-BE4D-EF1776C63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506" y="1076989"/>
            <a:ext cx="5322988" cy="2135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286B87C-0930-9A4B-96AA-DABAE229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32</a:t>
            </a:fld>
            <a:endParaRPr lang="fr-FR"/>
          </a:p>
        </p:txBody>
      </p:sp>
      <p:pic>
        <p:nvPicPr>
          <p:cNvPr id="7" name="Picture 6" descr="Université Paris-Saclay">
            <a:extLst>
              <a:ext uri="{FF2B5EF4-FFF2-40B4-BE49-F238E27FC236}">
                <a16:creationId xmlns:a16="http://schemas.microsoft.com/office/drawing/2014/main" id="{7F124783-D7FC-EC4E-B2FA-070A213C3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5169638"/>
            <a:ext cx="4118235" cy="142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Centre national de la recherche scientifique — Wikipédia">
            <a:extLst>
              <a:ext uri="{FF2B5EF4-FFF2-40B4-BE49-F238E27FC236}">
                <a16:creationId xmlns:a16="http://schemas.microsoft.com/office/drawing/2014/main" id="{ED19CF8F-40CC-6242-B962-81F459F37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292" y="5317012"/>
            <a:ext cx="1478301" cy="147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entraleSupélec - Wikipedia">
            <a:extLst>
              <a:ext uri="{FF2B5EF4-FFF2-40B4-BE49-F238E27FC236}">
                <a16:creationId xmlns:a16="http://schemas.microsoft.com/office/drawing/2014/main" id="{4819A732-9528-FA4D-807A-8B0CBD5F9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417" y="5351072"/>
            <a:ext cx="2613285" cy="133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Safran | Contribute to safer and more sustainable aviation">
            <a:extLst>
              <a:ext uri="{FF2B5EF4-FFF2-40B4-BE49-F238E27FC236}">
                <a16:creationId xmlns:a16="http://schemas.microsoft.com/office/drawing/2014/main" id="{2D4FCD49-5602-EC4C-B55A-6035E3230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063" y="5549978"/>
            <a:ext cx="3425064" cy="117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391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C53B0689-7D03-F04C-8341-6FE0A9701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6000" y="1190354"/>
            <a:ext cx="8640000" cy="5724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b="1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Références</a:t>
            </a:r>
            <a:endParaRPr lang="en-US" altLang="ja-JP" sz="3200" b="1">
              <a:solidFill>
                <a:srgbClr val="0070C0"/>
              </a:solidFill>
              <a:ea typeface="Lucida Sans Unicode" charset="0"/>
              <a:cs typeface="Lucida Sans Unicode"/>
            </a:endParaRPr>
          </a:p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ea typeface="Lucida Sans Unicode" charset="0"/>
              <a:cs typeface="Lucida Sans Unicode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7074F0C-6878-734A-BE4D-EF1776C63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73" y="-79114"/>
            <a:ext cx="3304873" cy="13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286B87C-0930-9A4B-96AA-DABAE229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33</a:t>
            </a:fld>
            <a:endParaRPr lang="fr-FR"/>
          </a:p>
        </p:txBody>
      </p:sp>
      <p:pic>
        <p:nvPicPr>
          <p:cNvPr id="6" name="Picture 4" descr="CentraleSupélec - Wikipedia">
            <a:extLst>
              <a:ext uri="{FF2B5EF4-FFF2-40B4-BE49-F238E27FC236}">
                <a16:creationId xmlns:a16="http://schemas.microsoft.com/office/drawing/2014/main" id="{DBFB2725-D936-A145-A24F-1BB24D25C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74" y="245494"/>
            <a:ext cx="1734552" cy="88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AB67EA40-CA1C-9342-9959-611B22BA2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562580"/>
              </p:ext>
            </p:extLst>
          </p:nvPr>
        </p:nvGraphicFramePr>
        <p:xfrm>
          <a:off x="1008272" y="2040674"/>
          <a:ext cx="10404056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38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[1]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ClrTx/>
                        <a:tabLst>
                          <a:tab pos="34290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lang="de-DE" sz="1800">
                          <a:effectLst/>
                          <a:latin typeface="SFRM1200"/>
                          <a:ea typeface="Times New Roman" panose="02020603050405020304" pitchFamily="18" charset="0"/>
                          <a:cs typeface="SFRM1200"/>
                        </a:rPr>
                        <a:t>C. Wang, J. Chen, J. Chen. </a:t>
                      </a:r>
                      <a:r>
                        <a:rPr lang="en-GB" sz="1800">
                          <a:effectLst/>
                          <a:latin typeface="SFRM1200"/>
                          <a:ea typeface="Times New Roman" panose="02020603050405020304" pitchFamily="18" charset="0"/>
                          <a:cs typeface="SFRM1200"/>
                        </a:rPr>
                        <a:t>Investigation on the selection of electric power system architecture for future more electric aircraft. </a:t>
                      </a:r>
                      <a:r>
                        <a:rPr lang="en-GB" sz="1800" i="1">
                          <a:effectLst/>
                          <a:latin typeface="SFTI1200"/>
                          <a:ea typeface="Times New Roman" panose="02020603050405020304" pitchFamily="18" charset="0"/>
                          <a:cs typeface="SFTI1200"/>
                        </a:rPr>
                        <a:t>IEEE Transactions on Transportation Electrification</a:t>
                      </a:r>
                      <a:r>
                        <a:rPr lang="en-GB" sz="1800" i="1">
                          <a:effectLst/>
                          <a:latin typeface="SFRM1200"/>
                          <a:ea typeface="Times New Roman" panose="02020603050405020304" pitchFamily="18" charset="0"/>
                          <a:cs typeface="SFRM1200"/>
                        </a:rPr>
                        <a:t>, 4(2) :</a:t>
                      </a:r>
                      <a:r>
                        <a:rPr lang="en-GB" sz="1800">
                          <a:effectLst/>
                          <a:latin typeface="SFRM1200"/>
                          <a:ea typeface="Times New Roman" panose="02020603050405020304" pitchFamily="18" charset="0"/>
                          <a:cs typeface="SFRM1200"/>
                        </a:rPr>
                        <a:t>563–576, 2018.</a:t>
                      </a:r>
                      <a:endParaRPr lang="en-US" altLang="ja-JP" sz="1800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[2]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>
                          <a:latin typeface="SFRM1200"/>
                        </a:rPr>
                        <a:t>O. Langlois, E. Foch, " De l’avion plus électrique à l’avion tout électrique : état de l’art et prospective sur les réseaux de bord," Journal sur l’enseignement des sciences et technologies de l’information et des systèmes, Volume 4, Hors-Série 1, 1 (2005)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[3]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err="1">
                          <a:latin typeface="SFRM1200"/>
                        </a:rPr>
                        <a:t>Pengfei</a:t>
                      </a:r>
                      <a:r>
                        <a:rPr lang="es-ES" sz="1800">
                          <a:latin typeface="SFRM1200"/>
                        </a:rPr>
                        <a:t> Tu </a:t>
                      </a:r>
                      <a:r>
                        <a:rPr lang="es-ES" sz="1800" err="1">
                          <a:latin typeface="SFRM1200"/>
                        </a:rPr>
                        <a:t>Tianyang</a:t>
                      </a:r>
                      <a:r>
                        <a:rPr lang="es-ES" sz="1800">
                          <a:latin typeface="SFRM1200"/>
                        </a:rPr>
                        <a:t> Zhao </a:t>
                      </a:r>
                      <a:r>
                        <a:rPr lang="es-ES" sz="1800" err="1">
                          <a:latin typeface="SFRM1200"/>
                        </a:rPr>
                        <a:t>Qianwen</a:t>
                      </a:r>
                      <a:r>
                        <a:rPr lang="es-ES" sz="1800">
                          <a:latin typeface="SFRM1200"/>
                        </a:rPr>
                        <a:t> </a:t>
                      </a:r>
                      <a:r>
                        <a:rPr lang="es-ES" sz="1800" err="1">
                          <a:latin typeface="SFRM1200"/>
                        </a:rPr>
                        <a:t>Xu</a:t>
                      </a:r>
                      <a:r>
                        <a:rPr lang="es-ES" sz="1800">
                          <a:latin typeface="SFRM1200"/>
                        </a:rPr>
                        <a:t>, Yan </a:t>
                      </a:r>
                      <a:r>
                        <a:rPr lang="es-ES" sz="1800" err="1">
                          <a:latin typeface="SFRM1200"/>
                        </a:rPr>
                        <a:t>Xu</a:t>
                      </a:r>
                      <a:r>
                        <a:rPr lang="es-ES" sz="1800">
                          <a:latin typeface="SFRM1200"/>
                        </a:rPr>
                        <a:t> and </a:t>
                      </a:r>
                      <a:r>
                        <a:rPr lang="es-ES" sz="1800" err="1">
                          <a:latin typeface="SFRM1200"/>
                        </a:rPr>
                        <a:t>Peng</a:t>
                      </a:r>
                      <a:r>
                        <a:rPr lang="es-ES" sz="1800">
                          <a:latin typeface="SFRM1200"/>
                        </a:rPr>
                        <a:t> Wang. </a:t>
                      </a:r>
                      <a:r>
                        <a:rPr lang="es-ES" sz="1800" err="1">
                          <a:latin typeface="SFRM1200"/>
                        </a:rPr>
                        <a:t>Systematic</a:t>
                      </a:r>
                      <a:r>
                        <a:rPr lang="es-ES" sz="1800">
                          <a:latin typeface="SFRM1200"/>
                        </a:rPr>
                        <a:t> </a:t>
                      </a:r>
                      <a:r>
                        <a:rPr lang="es-ES" sz="1800" err="1">
                          <a:latin typeface="SFRM1200"/>
                        </a:rPr>
                        <a:t>reliability</a:t>
                      </a:r>
                      <a:r>
                        <a:rPr lang="es-ES" sz="1800">
                          <a:latin typeface="SFRM1200"/>
                        </a:rPr>
                        <a:t> </a:t>
                      </a:r>
                      <a:r>
                        <a:rPr lang="es-ES" sz="1800" err="1">
                          <a:latin typeface="SFRM1200"/>
                        </a:rPr>
                        <a:t>modeling</a:t>
                      </a:r>
                      <a:r>
                        <a:rPr lang="es-ES" sz="1800">
                          <a:latin typeface="SFRM1200"/>
                        </a:rPr>
                        <a:t> </a:t>
                      </a:r>
                      <a:r>
                        <a:rPr lang="en-US" sz="1800">
                          <a:latin typeface="SFRM1200"/>
                        </a:rPr>
                        <a:t>and evaluation for on-board power systems of more electric aircrafts. IEEE Transactions on Power Systems, 34(4) :3264–3273, 2019.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[4]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>
                          <a:latin typeface="SFRM1200"/>
                        </a:rPr>
                        <a:t>M. Cupelli, F. Ponci, G. Sulligoi, A. Vicenzutti, C. S. Edrington, T. El-Mezyani, and A. Monti. </a:t>
                      </a:r>
                      <a:r>
                        <a:rPr lang="en-US" sz="1800">
                          <a:latin typeface="SFRM1200"/>
                        </a:rPr>
                        <a:t>Power flow control and network stability in an all-electric ship. Proceedings of the IEEE, </a:t>
                      </a:r>
                      <a:r>
                        <a:rPr lang="es-ES" sz="1800">
                          <a:latin typeface="SFRM1200"/>
                        </a:rPr>
                        <a:t>103(12) :2355–2380, 2015</a:t>
                      </a:r>
                      <a:endParaRPr lang="en-US" altLang="ja-JP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[5]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ClrTx/>
                        <a:tabLst>
                          <a:tab pos="34290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</a:pPr>
                      <a:r>
                        <a:rPr lang="en-US" sz="1800">
                          <a:latin typeface="SFRM1200"/>
                        </a:rPr>
                        <a:t>Q. Xu, P. Wang, J. Chen, C. Wen and M. Y. Lee, "A Module-Based Approach for Stability Analysis of Complex More-Electric Aircraft Power System," in IEEE Transactions on Transportation Electrification, vol. 3, no. 4, pp. 901-919, Dec. 2017, </a:t>
                      </a:r>
                      <a:r>
                        <a:rPr lang="en-US" sz="1800" err="1">
                          <a:latin typeface="SFRM1200"/>
                        </a:rPr>
                        <a:t>doi</a:t>
                      </a:r>
                      <a:r>
                        <a:rPr lang="en-US" sz="1800">
                          <a:latin typeface="SFRM1200"/>
                        </a:rPr>
                        <a:t>: 10.1109/TTE.2017.2695886.</a:t>
                      </a:r>
                      <a:endParaRPr lang="en-US" altLang="ja-JP" sz="1800">
                        <a:latin typeface="SFRM120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010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813D29-DA8A-468B-AC44-D1790DA8A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Trucs à faire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5CB146-3548-49AD-9CCF-1C31B450C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/>
              <a:t>Problème </a:t>
            </a:r>
            <a:r>
              <a:rPr lang="fr-FR" err="1"/>
              <a:t>opti</a:t>
            </a:r>
            <a:r>
              <a:rPr lang="fr-FR"/>
              <a:t> mono (sans filtre) : </a:t>
            </a:r>
          </a:p>
          <a:p>
            <a:pPr lvl="1"/>
            <a:r>
              <a:rPr lang="fr-FR"/>
              <a:t>ploter les courbes (pourvoir les domaines de stabilité et d’instabilité)</a:t>
            </a:r>
          </a:p>
          <a:p>
            <a:pPr lvl="1"/>
            <a:r>
              <a:rPr lang="fr-FR">
                <a:highlight>
                  <a:srgbClr val="FFFF00"/>
                </a:highlight>
              </a:rPr>
              <a:t>Afficher la valeur de la résistance optimale trouvée</a:t>
            </a:r>
          </a:p>
          <a:p>
            <a:r>
              <a:rPr lang="fr-FR"/>
              <a:t>Problème </a:t>
            </a:r>
            <a:r>
              <a:rPr lang="fr-FR" err="1"/>
              <a:t>opti</a:t>
            </a:r>
            <a:r>
              <a:rPr lang="fr-FR"/>
              <a:t> multi 1 (avec filtre – </a:t>
            </a:r>
            <a:r>
              <a:rPr lang="fr-FR" err="1"/>
              <a:t>Rsh</a:t>
            </a:r>
            <a:r>
              <a:rPr lang="fr-FR"/>
              <a:t> / nt x </a:t>
            </a:r>
            <a:r>
              <a:rPr lang="fr-FR" err="1"/>
              <a:t>Lt</a:t>
            </a:r>
            <a:r>
              <a:rPr lang="fr-FR"/>
              <a:t>) :</a:t>
            </a:r>
          </a:p>
          <a:p>
            <a:pPr lvl="1"/>
            <a:r>
              <a:rPr lang="fr-FR"/>
              <a:t>ploter les courbes pour différentes valeurs de puissance (pour montrer que le filtre stabilise)</a:t>
            </a:r>
          </a:p>
          <a:p>
            <a:pPr lvl="1"/>
            <a:r>
              <a:rPr lang="fr-FR">
                <a:highlight>
                  <a:srgbClr val="FFFF00"/>
                </a:highlight>
              </a:rPr>
              <a:t>Courbes </a:t>
            </a:r>
            <a:r>
              <a:rPr lang="fr-FR" err="1">
                <a:highlight>
                  <a:srgbClr val="FFFF00"/>
                </a:highlight>
              </a:rPr>
              <a:t>ScPF</a:t>
            </a:r>
            <a:r>
              <a:rPr lang="fr-FR">
                <a:highlight>
                  <a:srgbClr val="FFFF00"/>
                </a:highlight>
              </a:rPr>
              <a:t> </a:t>
            </a:r>
            <a:r>
              <a:rPr lang="fr-FR" err="1">
                <a:highlight>
                  <a:srgbClr val="FFFF00"/>
                </a:highlight>
              </a:rPr>
              <a:t>behaviour</a:t>
            </a:r>
            <a:endParaRPr lang="fr-FR">
              <a:highlight>
                <a:srgbClr val="FFFF00"/>
              </a:highlight>
            </a:endParaRPr>
          </a:p>
          <a:p>
            <a:pPr lvl="1"/>
            <a:r>
              <a:rPr lang="fr-FR">
                <a:solidFill>
                  <a:schemeClr val="accent3">
                    <a:lumMod val="60000"/>
                    <a:lumOff val="40000"/>
                  </a:schemeClr>
                </a:solidFill>
              </a:rPr>
              <a:t>Optimiser le code</a:t>
            </a:r>
          </a:p>
          <a:p>
            <a:pPr lvl="1"/>
            <a:r>
              <a:rPr lang="fr-FR">
                <a:highlight>
                  <a:srgbClr val="FFFF00"/>
                </a:highlight>
              </a:rPr>
              <a:t>Ploter un meilleur front de Pareto</a:t>
            </a:r>
          </a:p>
          <a:p>
            <a:pPr lvl="1"/>
            <a:r>
              <a:rPr lang="fr-FR"/>
              <a:t>Afficher pour trois points du front de </a:t>
            </a:r>
            <a:r>
              <a:rPr lang="fr-FR" err="1"/>
              <a:t>pareto</a:t>
            </a:r>
            <a:r>
              <a:rPr lang="fr-FR"/>
              <a:t> (extrema et coude) les courbes du premier point (pour voir le comportement et vérifier que les contraintes sont respectées)</a:t>
            </a:r>
          </a:p>
          <a:p>
            <a:pPr lvl="1"/>
            <a:r>
              <a:rPr lang="fr-FR">
                <a:highlight>
                  <a:srgbClr val="FFFF00"/>
                </a:highlight>
              </a:rPr>
              <a:t>Tracer les fronts de Pareto pour différentes valeurs de surpuissance (genre 4 valeurs de puissance)</a:t>
            </a:r>
          </a:p>
          <a:p>
            <a:r>
              <a:rPr lang="fr-FR"/>
              <a:t>Problème </a:t>
            </a:r>
            <a:r>
              <a:rPr lang="fr-FR" err="1"/>
              <a:t>opti</a:t>
            </a:r>
            <a:r>
              <a:rPr lang="fr-FR"/>
              <a:t> multi 2 (avec filtre – a*(1-P_cpl-P_in) + b*</a:t>
            </a:r>
            <a:r>
              <a:rPr lang="fr-FR" err="1"/>
              <a:t>P_Sc</a:t>
            </a:r>
            <a:r>
              <a:rPr lang="fr-FR"/>
              <a:t> / nt x </a:t>
            </a:r>
            <a:r>
              <a:rPr lang="fr-FR" err="1"/>
              <a:t>Lt</a:t>
            </a:r>
            <a:r>
              <a:rPr lang="fr-FR"/>
              <a:t>) :</a:t>
            </a:r>
          </a:p>
          <a:p>
            <a:pPr lvl="1"/>
            <a:r>
              <a:rPr lang="fr-FR">
                <a:highlight>
                  <a:srgbClr val="FFFF00"/>
                </a:highlight>
              </a:rPr>
              <a:t>Nouveau code : trouver comment récupérer </a:t>
            </a:r>
            <a:r>
              <a:rPr lang="fr-FR" err="1">
                <a:highlight>
                  <a:srgbClr val="FFFF00"/>
                </a:highlight>
              </a:rPr>
              <a:t>P_Sc</a:t>
            </a:r>
            <a:endParaRPr lang="fr-FR">
              <a:highlight>
                <a:srgbClr val="FFFF00"/>
              </a:highlight>
            </a:endParaRPr>
          </a:p>
          <a:p>
            <a:pPr lvl="1"/>
            <a:r>
              <a:rPr lang="fr-FR">
                <a:solidFill>
                  <a:schemeClr val="accent3">
                    <a:lumMod val="60000"/>
                    <a:lumOff val="40000"/>
                  </a:schemeClr>
                </a:solidFill>
              </a:rPr>
              <a:t>Afficher fronts de Pareto pour différentes valeurs de surpuissance</a:t>
            </a:r>
          </a:p>
          <a:p>
            <a:pPr lvl="1"/>
            <a:r>
              <a:rPr lang="fr-FR"/>
              <a:t>Pour plusieurs points (points équivalents sur les différents fronts), ploter la courbe pertes = f(P*)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F324AB-A7C6-4A37-977A-B7921FF4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0725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2bba71-449e-4571-99fd-c3bee28b3c2b">
      <Terms xmlns="http://schemas.microsoft.com/office/infopath/2007/PartnerControls"/>
    </lcf76f155ced4ddcb4097134ff3c332f>
    <TaxCatchAll xmlns="3347f374-512c-4c81-9c8a-b24f5e1576a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9CDF837C2D214AA6FED8D1FBBE80F5" ma:contentTypeVersion="12" ma:contentTypeDescription="Crée un document." ma:contentTypeScope="" ma:versionID="403eec7c5d4d7a5491f766f77aec365b">
  <xsd:schema xmlns:xsd="http://www.w3.org/2001/XMLSchema" xmlns:xs="http://www.w3.org/2001/XMLSchema" xmlns:p="http://schemas.microsoft.com/office/2006/metadata/properties" xmlns:ns2="672bba71-449e-4571-99fd-c3bee28b3c2b" xmlns:ns3="3347f374-512c-4c81-9c8a-b24f5e1576a8" targetNamespace="http://schemas.microsoft.com/office/2006/metadata/properties" ma:root="true" ma:fieldsID="ef16f0c3a8136a113a5cde00006b90bb" ns2:_="" ns3:_="">
    <xsd:import namespace="672bba71-449e-4571-99fd-c3bee28b3c2b"/>
    <xsd:import namespace="3347f374-512c-4c81-9c8a-b24f5e1576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bba71-449e-4571-99fd-c3bee28b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b74adcb9-9639-454f-bd53-a051c6bc34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47f374-512c-4c81-9c8a-b24f5e1576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72fa494-0a1a-4d61-93ad-243054af59fa}" ma:internalName="TaxCatchAll" ma:showField="CatchAllData" ma:web="3347f374-512c-4c81-9c8a-b24f5e1576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502F9A-7B33-4F13-A4E9-C58849999B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B1B8B8-B533-4781-86C3-B25F19FD7579}">
  <ds:schemaRefs>
    <ds:schemaRef ds:uri="http://schemas.openxmlformats.org/package/2006/metadata/core-properties"/>
    <ds:schemaRef ds:uri="http://purl.org/dc/dcmitype/"/>
    <ds:schemaRef ds:uri="http://purl.org/dc/elements/1.1/"/>
    <ds:schemaRef ds:uri="dba726d3-9bb0-4a6c-82fb-7da00d27a883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17A29F4-6276-44FD-9B7B-C57D7BE5214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2206</Words>
  <Application>Microsoft Macintosh PowerPoint</Application>
  <PresentationFormat>Grand écran</PresentationFormat>
  <Paragraphs>368</Paragraphs>
  <Slides>34</Slides>
  <Notes>31</Notes>
  <HiddenSlides>2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Lucida Sans Unicode</vt:lpstr>
      <vt:lpstr>SFRM1200</vt:lpstr>
      <vt:lpstr>SFTI1200</vt:lpstr>
      <vt:lpstr>Wingdings</vt:lpstr>
      <vt:lpstr>Thème Office</vt:lpstr>
      <vt:lpstr>Modélisation et Optimisation d’une structure électrique d’un avion</vt:lpstr>
      <vt:lpstr>Présentation PowerPoint</vt:lpstr>
      <vt:lpstr>Présentation PowerPoint</vt:lpstr>
      <vt:lpstr>Introduction aux MEA</vt:lpstr>
      <vt:lpstr>Problématique et Objectif</vt:lpstr>
      <vt:lpstr>Plusieurs architectures</vt:lpstr>
      <vt:lpstr>Justification du choix d’architecture</vt:lpstr>
      <vt:lpstr>Modèle retenu – ESP-A3</vt:lpstr>
      <vt:lpstr>Présentation PowerPoint</vt:lpstr>
      <vt:lpstr>Simplification du modèle et  description du modèle simplifié</vt:lpstr>
      <vt:lpstr>Présentation PowerPoint</vt:lpstr>
      <vt:lpstr>Présentation PowerPoint</vt:lpstr>
      <vt:lpstr>Présentation PowerPoint</vt:lpstr>
      <vt:lpstr>Conséquence du ScPF sur la stabilité</vt:lpstr>
      <vt:lpstr>Présentation PowerPoint</vt:lpstr>
      <vt:lpstr>Formulation du problème :  mono-objectif</vt:lpstr>
      <vt:lpstr>Formulation du problème : multi-objectif</vt:lpstr>
      <vt:lpstr>Couplage MOPSO / Simulink</vt:lpstr>
      <vt:lpstr>Optimisation de la résistance sans ScPF</vt:lpstr>
      <vt:lpstr>Présentation PowerPoint</vt:lpstr>
      <vt:lpstr>Front de Pareto</vt:lpstr>
      <vt:lpstr>Analyse de 3 Points importants</vt:lpstr>
      <vt:lpstr>Evolution de la Rsh/du supraconducteur pour différentes valeurs de surpuissance</vt:lpstr>
      <vt:lpstr>Fronts de pareto pour différentes valeurs de surpuissance</vt:lpstr>
      <vt:lpstr>Fronts de pareto pour différentes valeurs de surpuissance</vt:lpstr>
      <vt:lpstr>Nouveau problème multi-objectif</vt:lpstr>
      <vt:lpstr>Optimisation CAPEX/OPEX</vt:lpstr>
      <vt:lpstr>Conclusion sur les différentes valeurs de surpuissance</vt:lpstr>
      <vt:lpstr>Temps de calcul et limites </vt:lpstr>
      <vt:lpstr>Présentation PowerPoint</vt:lpstr>
      <vt:lpstr>Présentation PowerPoint</vt:lpstr>
      <vt:lpstr>Présentation PowerPoint</vt:lpstr>
      <vt:lpstr>Présentation PowerPoint</vt:lpstr>
      <vt:lpstr>Trucs à faire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>Alejandro Roa Quintero (Student at CentraleSupelec)</cp:lastModifiedBy>
  <cp:revision>2</cp:revision>
  <dcterms:created xsi:type="dcterms:W3CDTF">2022-03-30T07:09:50Z</dcterms:created>
  <dcterms:modified xsi:type="dcterms:W3CDTF">2022-04-11T08:16:05Z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0x010100769CDF837C2D214AA6FED8D1FBBE80F5</vt:lpwstr>
  </property>
</Properties>
</file>