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7" r:id="rId5"/>
    <p:sldId id="289" r:id="rId6"/>
    <p:sldId id="290" r:id="rId7"/>
    <p:sldId id="291" r:id="rId8"/>
    <p:sldId id="292" r:id="rId9"/>
    <p:sldId id="296" r:id="rId10"/>
    <p:sldId id="297" r:id="rId11"/>
    <p:sldId id="298" r:id="rId12"/>
    <p:sldId id="299" r:id="rId13"/>
    <p:sldId id="293" r:id="rId14"/>
    <p:sldId id="294" r:id="rId15"/>
    <p:sldId id="267" r:id="rId16"/>
    <p:sldId id="295" r:id="rId17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25"/>
    <a:srgbClr val="614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FE09B-9E7E-4A28-B63E-B1B5CDD52D07}" v="78" dt="2024-03-06T08:00:35.612"/>
    <p1510:client id="{D2A7FB54-E1DC-430A-B660-0ABE92A47D32}" v="4" dt="2024-03-06T08:48:50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98" autoAdjust="0"/>
    <p:restoredTop sz="97826" autoAdjust="0"/>
  </p:normalViewPr>
  <p:slideViewPr>
    <p:cSldViewPr snapToGrid="0" snapToObjects="1">
      <p:cViewPr varScale="1">
        <p:scale>
          <a:sx n="82" d="100"/>
          <a:sy n="82" d="100"/>
        </p:scale>
        <p:origin x="153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ordino (Student at CentraleSupelec)" userId="S::thomas.bordino@student-cs.fr::059e5d54-57bf-4e3d-9785-61ef755fb47f" providerId="AD" clId="Web-{7A5FE09B-9E7E-4A28-B63E-B1B5CDD52D07}"/>
    <pc:docChg chg="modSld">
      <pc:chgData name="Thomas Bordino (Student at CentraleSupelec)" userId="S::thomas.bordino@student-cs.fr::059e5d54-57bf-4e3d-9785-61ef755fb47f" providerId="AD" clId="Web-{7A5FE09B-9E7E-4A28-B63E-B1B5CDD52D07}" dt="2024-03-06T08:00:35.612" v="71" actId="1076"/>
      <pc:docMkLst>
        <pc:docMk/>
      </pc:docMkLst>
      <pc:sldChg chg="modSp">
        <pc:chgData name="Thomas Bordino (Student at CentraleSupelec)" userId="S::thomas.bordino@student-cs.fr::059e5d54-57bf-4e3d-9785-61ef755fb47f" providerId="AD" clId="Web-{7A5FE09B-9E7E-4A28-B63E-B1B5CDD52D07}" dt="2024-03-06T07:32:17.562" v="21" actId="20577"/>
        <pc:sldMkLst>
          <pc:docMk/>
          <pc:sldMk cId="2940396715" sldId="290"/>
        </pc:sldMkLst>
        <pc:spChg chg="mod">
          <ac:chgData name="Thomas Bordino (Student at CentraleSupelec)" userId="S::thomas.bordino@student-cs.fr::059e5d54-57bf-4e3d-9785-61ef755fb47f" providerId="AD" clId="Web-{7A5FE09B-9E7E-4A28-B63E-B1B5CDD52D07}" dt="2024-03-06T07:32:17.562" v="21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">
        <pc:chgData name="Thomas Bordino (Student at CentraleSupelec)" userId="S::thomas.bordino@student-cs.fr::059e5d54-57bf-4e3d-9785-61ef755fb47f" providerId="AD" clId="Web-{7A5FE09B-9E7E-4A28-B63E-B1B5CDD52D07}" dt="2024-03-06T07:32:29.781" v="23"/>
        <pc:sldMkLst>
          <pc:docMk/>
          <pc:sldMk cId="709355255" sldId="291"/>
        </pc:sldMkLst>
        <pc:spChg chg="mod">
          <ac:chgData name="Thomas Bordino (Student at CentraleSupelec)" userId="S::thomas.bordino@student-cs.fr::059e5d54-57bf-4e3d-9785-61ef755fb47f" providerId="AD" clId="Web-{7A5FE09B-9E7E-4A28-B63E-B1B5CDD52D07}" dt="2024-03-06T07:32:29.781" v="23"/>
          <ac:spMkLst>
            <pc:docMk/>
            <pc:sldMk cId="709355255" sldId="291"/>
            <ac:spMk id="3073" creationId="{00000000-0000-0000-0000-000000000000}"/>
          </ac:spMkLst>
        </pc:spChg>
      </pc:sldChg>
      <pc:sldChg chg="addSp delSp modSp">
        <pc:chgData name="Thomas Bordino (Student at CentraleSupelec)" userId="S::thomas.bordino@student-cs.fr::059e5d54-57bf-4e3d-9785-61ef755fb47f" providerId="AD" clId="Web-{7A5FE09B-9E7E-4A28-B63E-B1B5CDD52D07}" dt="2024-03-06T08:00:35.612" v="71" actId="1076"/>
        <pc:sldMkLst>
          <pc:docMk/>
          <pc:sldMk cId="336249700" sldId="292"/>
        </pc:sldMkLst>
        <pc:spChg chg="del">
          <ac:chgData name="Thomas Bordino (Student at CentraleSupelec)" userId="S::thomas.bordino@student-cs.fr::059e5d54-57bf-4e3d-9785-61ef755fb47f" providerId="AD" clId="Web-{7A5FE09B-9E7E-4A28-B63E-B1B5CDD52D07}" dt="2024-03-06T07:32:39.313" v="26"/>
          <ac:spMkLst>
            <pc:docMk/>
            <pc:sldMk cId="336249700" sldId="292"/>
            <ac:spMk id="101" creationId="{00000000-0000-0000-0000-000000000000}"/>
          </ac:spMkLst>
        </pc:spChg>
        <pc:picChg chg="add mod">
          <ac:chgData name="Thomas Bordino (Student at CentraleSupelec)" userId="S::thomas.bordino@student-cs.fr::059e5d54-57bf-4e3d-9785-61ef755fb47f" providerId="AD" clId="Web-{7A5FE09B-9E7E-4A28-B63E-B1B5CDD52D07}" dt="2024-03-06T07:33:03.688" v="27"/>
          <ac:picMkLst>
            <pc:docMk/>
            <pc:sldMk cId="336249700" sldId="292"/>
            <ac:picMk id="2" creationId="{14DCF942-FE3F-3328-D748-7C5AC5DD49E4}"/>
          </ac:picMkLst>
        </pc:picChg>
        <pc:picChg chg="del">
          <ac:chgData name="Thomas Bordino (Student at CentraleSupelec)" userId="S::thomas.bordino@student-cs.fr::059e5d54-57bf-4e3d-9785-61ef755fb47f" providerId="AD" clId="Web-{7A5FE09B-9E7E-4A28-B63E-B1B5CDD52D07}" dt="2024-03-06T07:32:34.656" v="24"/>
          <ac:picMkLst>
            <pc:docMk/>
            <pc:sldMk cId="336249700" sldId="292"/>
            <ac:picMk id="3" creationId="{7D49A208-C51F-A657-2516-C0005F4A7086}"/>
          </ac:picMkLst>
        </pc:picChg>
        <pc:picChg chg="add mod">
          <ac:chgData name="Thomas Bordino (Student at CentraleSupelec)" userId="S::thomas.bordino@student-cs.fr::059e5d54-57bf-4e3d-9785-61ef755fb47f" providerId="AD" clId="Web-{7A5FE09B-9E7E-4A28-B63E-B1B5CDD52D07}" dt="2024-03-06T07:44:21.567" v="39" actId="1076"/>
          <ac:picMkLst>
            <pc:docMk/>
            <pc:sldMk cId="336249700" sldId="292"/>
            <ac:picMk id="4" creationId="{2851E513-9E78-1A1E-2B9F-9FE1D76DB890}"/>
          </ac:picMkLst>
        </pc:picChg>
        <pc:picChg chg="del">
          <ac:chgData name="Thomas Bordino (Student at CentraleSupelec)" userId="S::thomas.bordino@student-cs.fr::059e5d54-57bf-4e3d-9785-61ef755fb47f" providerId="AD" clId="Web-{7A5FE09B-9E7E-4A28-B63E-B1B5CDD52D07}" dt="2024-03-06T07:32:35.469" v="25"/>
          <ac:picMkLst>
            <pc:docMk/>
            <pc:sldMk cId="336249700" sldId="292"/>
            <ac:picMk id="9" creationId="{CDCD94CA-3884-C770-BA65-6451D90276D2}"/>
          </ac:picMkLst>
        </pc:picChg>
        <pc:picChg chg="add del mod">
          <ac:chgData name="Thomas Bordino (Student at CentraleSupelec)" userId="S::thomas.bordino@student-cs.fr::059e5d54-57bf-4e3d-9785-61ef755fb47f" providerId="AD" clId="Web-{7A5FE09B-9E7E-4A28-B63E-B1B5CDD52D07}" dt="2024-03-06T07:45:01.412" v="48"/>
          <ac:picMkLst>
            <pc:docMk/>
            <pc:sldMk cId="336249700" sldId="292"/>
            <ac:picMk id="10" creationId="{7081AD14-D1FD-9940-88EF-5EFBA3799BE6}"/>
          </ac:picMkLst>
        </pc:picChg>
        <pc:picChg chg="add del mod">
          <ac:chgData name="Thomas Bordino (Student at CentraleSupelec)" userId="S::thomas.bordino@student-cs.fr::059e5d54-57bf-4e3d-9785-61ef755fb47f" providerId="AD" clId="Web-{7A5FE09B-9E7E-4A28-B63E-B1B5CDD52D07}" dt="2024-03-06T07:45:02.709" v="49"/>
          <ac:picMkLst>
            <pc:docMk/>
            <pc:sldMk cId="336249700" sldId="292"/>
            <ac:picMk id="11" creationId="{5C680F25-A86D-8E96-0489-2C0832328067}"/>
          </ac:picMkLst>
        </pc:picChg>
        <pc:picChg chg="add mod">
          <ac:chgData name="Thomas Bordino (Student at CentraleSupelec)" userId="S::thomas.bordino@student-cs.fr::059e5d54-57bf-4e3d-9785-61ef755fb47f" providerId="AD" clId="Web-{7A5FE09B-9E7E-4A28-B63E-B1B5CDD52D07}" dt="2024-03-06T08:00:35.612" v="71" actId="1076"/>
          <ac:picMkLst>
            <pc:docMk/>
            <pc:sldMk cId="336249700" sldId="292"/>
            <ac:picMk id="12" creationId="{C0A2DD98-5C54-8621-52B8-8001152F4685}"/>
          </ac:picMkLst>
        </pc:picChg>
        <pc:picChg chg="add mod">
          <ac:chgData name="Thomas Bordino (Student at CentraleSupelec)" userId="S::thomas.bordino@student-cs.fr::059e5d54-57bf-4e3d-9785-61ef755fb47f" providerId="AD" clId="Web-{7A5FE09B-9E7E-4A28-B63E-B1B5CDD52D07}" dt="2024-03-06T07:59:18.656" v="69" actId="14100"/>
          <ac:picMkLst>
            <pc:docMk/>
            <pc:sldMk cId="336249700" sldId="292"/>
            <ac:picMk id="13" creationId="{29BD436F-915D-1E1D-4A06-2A4D54E62A8D}"/>
          </ac:picMkLst>
        </pc:picChg>
      </pc:sldChg>
    </pc:docChg>
  </pc:docChgLst>
  <pc:docChgLst>
    <pc:chgData name="Henri Arvis (Student at CentraleSupelec)" userId="S::henri.arvis@student-cs.fr::2eec99dc-37bd-428a-ae0e-36fa30341aa6" providerId="AD" clId="Web-{D2A7FB54-E1DC-430A-B660-0ABE92A47D32}"/>
    <pc:docChg chg="modSld">
      <pc:chgData name="Henri Arvis (Student at CentraleSupelec)" userId="S::henri.arvis@student-cs.fr::2eec99dc-37bd-428a-ae0e-36fa30341aa6" providerId="AD" clId="Web-{D2A7FB54-E1DC-430A-B660-0ABE92A47D32}" dt="2024-03-06T08:48:43.742" v="0" actId="20577"/>
      <pc:docMkLst>
        <pc:docMk/>
      </pc:docMkLst>
      <pc:sldChg chg="modSp">
        <pc:chgData name="Henri Arvis (Student at CentraleSupelec)" userId="S::henri.arvis@student-cs.fr::2eec99dc-37bd-428a-ae0e-36fa30341aa6" providerId="AD" clId="Web-{D2A7FB54-E1DC-430A-B660-0ABE92A47D32}" dt="2024-03-06T08:48:43.742" v="0" actId="20577"/>
        <pc:sldMkLst>
          <pc:docMk/>
          <pc:sldMk cId="3827946629" sldId="257"/>
        </pc:sldMkLst>
        <pc:spChg chg="mod">
          <ac:chgData name="Henri Arvis (Student at CentraleSupelec)" userId="S::henri.arvis@student-cs.fr::2eec99dc-37bd-428a-ae0e-36fa30341aa6" providerId="AD" clId="Web-{D2A7FB54-E1DC-430A-B660-0ABE92A47D32}" dt="2024-03-06T08:48:43.742" v="0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49C88-AC44-8AB3-221C-4BBDA759B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>
            <a:extLst>
              <a:ext uri="{FF2B5EF4-FFF2-40B4-BE49-F238E27FC236}">
                <a16:creationId xmlns:a16="http://schemas.microsoft.com/office/drawing/2014/main" id="{F8B0523C-3035-E0BF-7E06-F7413AC3D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B1059EC-4C1C-2951-3E7D-FF1A2B21EBB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8516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A74E7-3183-62BE-9156-E9CE37EF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F0B14D6E-2C9D-0F91-4316-3555D902B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DE87BF1A-1393-AC65-580D-2B7819268982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11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5CF0C-EFD2-59B1-202A-CFDD8E02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B1D98733-F6D0-C208-DA8C-63FE4EED9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89CB3B65-2321-C82C-5C06-63C60FE86DEB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41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 dirty="0">
              <a:ea typeface="SimSun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algn="ctr"/>
            <a:endParaRPr lang="fr-FR" b="1" dirty="0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loic.queval@geeps.centralesupelec.fr</a:t>
            </a:r>
            <a:endParaRPr lang="fr-FR" sz="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456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 dirty="0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 dirty="0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 dirty="0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de-DE" sz="3200" b="1" dirty="0">
                <a:latin typeface="+mj-lt"/>
              </a:rPr>
              <a:t>Considering the superconductor in the circuit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 dirty="0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fr-FR" altLang="de-DE" u="sng" dirty="0">
                <a:latin typeface="+mj-lt"/>
                <a:ea typeface="MS PGothic"/>
                <a:cs typeface="Arial"/>
              </a:rPr>
              <a:t>Thomas B., Henri A., Oussama H., Benoît L. Bilal Z. </a:t>
            </a:r>
            <a:endParaRPr lang="fr-FR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 dirty="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indent="-341313" algn="just">
              <a:lnSpc>
                <a:spcPct val="102000"/>
              </a:lnSpc>
              <a:spcBef>
                <a:spcPts val="80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dirty="0" err="1">
                <a:ea typeface="Lucida Sans Unicode" charset="0"/>
                <a:cs typeface="Lucida Sans Unicode" charset="0"/>
              </a:rPr>
              <a:t>Ahead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of a certain power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demand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, the system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becomes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unstable</a:t>
            </a:r>
            <a:endParaRPr lang="en-US" altLang="ja-JP" dirty="0">
              <a:ea typeface="Lucida Sans Unicode" charset="0"/>
              <a:cs typeface="Lucida Sans Unicode" charset="0"/>
            </a:endParaRPr>
          </a:p>
          <a:p>
            <a:pPr indent="-341313" algn="just">
              <a:lnSpc>
                <a:spcPct val="102000"/>
              </a:lnSpc>
              <a:spcBef>
                <a:spcPts val="800"/>
              </a:spcBef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dirty="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Would the implementation of a superconductive resistor solve this issue?</a:t>
            </a:r>
            <a:endParaRPr lang="en-GB" altLang="ja-JP" sz="2400" dirty="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71784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dirty="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Content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 dirty="0">
                <a:ea typeface="Lucida Sans Unicode" charset="0"/>
                <a:cs typeface="Lucida Sans Unicode"/>
              </a:rPr>
              <a:t>Results without superconductor</a:t>
            </a:r>
            <a:endParaRPr lang="en-GB" altLang="ja-JP" sz="2400" dirty="0">
              <a:ea typeface="Lucida Sans Unicode" charset="0"/>
              <a:cs typeface="Lucida Sans Unicode" charset="0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 dirty="0">
                <a:ea typeface="Lucida Sans Unicode" charset="0"/>
                <a:cs typeface="Lucida Sans Unicode"/>
              </a:rPr>
              <a:t>Results with superconductor</a:t>
            </a:r>
            <a:endParaRPr lang="en-GB" altLang="ja-JP" sz="2400" dirty="0">
              <a:ea typeface="Lucida Sans Unicode" charset="0"/>
              <a:cs typeface="Lucida Sans Unicode" charset="0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 dirty="0">
                <a:ea typeface="Lucida Sans Unicode" charset="0"/>
                <a:cs typeface="Lucida Sans Unicode" charset="0"/>
              </a:rPr>
              <a:t>Conclusion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0396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I. </a:t>
            </a:r>
            <a:r>
              <a:rPr lang="en-GB" sz="3200" b="1">
                <a:solidFill>
                  <a:srgbClr val="000000"/>
                </a:solidFill>
                <a:ea typeface="ＭＳ Ｐゴシック"/>
              </a:rPr>
              <a:t>Results without superconductor</a:t>
            </a:r>
            <a:endParaRPr lang="en-US" sz="3200" b="1" dirty="0">
              <a:solidFill>
                <a:srgbClr val="000000"/>
              </a:solidFill>
              <a:ea typeface="ＭＳ Ｐゴシック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42EF75-85C8-449D-9E3F-3EDD329FF0E4}"/>
              </a:ext>
            </a:extLst>
          </p:cNvPr>
          <p:cNvSpPr txBox="1"/>
          <p:nvPr/>
        </p:nvSpPr>
        <p:spPr>
          <a:xfrm>
            <a:off x="-3974" y="6306007"/>
            <a:ext cx="9147974" cy="24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1000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[x] in 10 </a:t>
            </a:r>
            <a:r>
              <a:rPr lang="en-US" altLang="ja-JP" sz="1000" dirty="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pt</a:t>
            </a:r>
            <a:r>
              <a:rPr lang="en-US" altLang="ja-JP" sz="1000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(for references at the bottom of the slide)</a:t>
            </a:r>
          </a:p>
        </p:txBody>
      </p:sp>
      <p:pic>
        <p:nvPicPr>
          <p:cNvPr id="2" name="Image 1" descr="Une image contenant capture d’écran, noir&#10;&#10;Description générée automatiquement">
            <a:extLst>
              <a:ext uri="{FF2B5EF4-FFF2-40B4-BE49-F238E27FC236}">
                <a16:creationId xmlns:a16="http://schemas.microsoft.com/office/drawing/2014/main" id="{14DCF942-FE3F-3328-D748-7C5AC5DD4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3716"/>
            <a:ext cx="9144000" cy="5970568"/>
          </a:xfrm>
          <a:prstGeom prst="rect">
            <a:avLst/>
          </a:prstGeom>
        </p:spPr>
      </p:pic>
      <p:pic>
        <p:nvPicPr>
          <p:cNvPr id="4" name="Image 3" descr="Une image contenant texte, capture d’écran, ligne, Police&#10;&#10;Description générée automatiquement">
            <a:extLst>
              <a:ext uri="{FF2B5EF4-FFF2-40B4-BE49-F238E27FC236}">
                <a16:creationId xmlns:a16="http://schemas.microsoft.com/office/drawing/2014/main" id="{2851E513-9E78-1A1E-2B9F-9FE1D76DB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21" y="2342869"/>
            <a:ext cx="4136652" cy="3757093"/>
          </a:xfrm>
          <a:prstGeom prst="rect">
            <a:avLst/>
          </a:prstGeom>
        </p:spPr>
      </p:pic>
      <p:pic>
        <p:nvPicPr>
          <p:cNvPr id="12" name="Image 11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C0A2DD98-5C54-8621-52B8-8001152F4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044" y="2557896"/>
            <a:ext cx="3582679" cy="1662463"/>
          </a:xfrm>
          <a:prstGeom prst="rect">
            <a:avLst/>
          </a:prstGeom>
        </p:spPr>
      </p:pic>
      <p:pic>
        <p:nvPicPr>
          <p:cNvPr id="13" name="Image 1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29BD436F-915D-1E1D-4A06-2A4D54E62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442" y="4169943"/>
            <a:ext cx="3582681" cy="176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97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13A9-9495-98E3-C77D-7F88AA3F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FA139A8D-3E9D-1FEA-4856-6CDCD2E73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 dirty="0">
                <a:solidFill>
                  <a:srgbClr val="000000"/>
                </a:solidFill>
                <a:ea typeface="ＭＳ Ｐゴシック" charset="-128"/>
              </a:rPr>
              <a:t>II. Instability mitigation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2F3BA2-0AD8-43BB-94B6-F072D420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7311ED-5C7D-2664-6C7D-55367B78DA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743244-393D-2003-F8B9-55A17CE0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8443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2BD7F-33AB-129E-8B78-8B61C104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>
            <a:extLst>
              <a:ext uri="{FF2B5EF4-FFF2-40B4-BE49-F238E27FC236}">
                <a16:creationId xmlns:a16="http://schemas.microsoft.com/office/drawing/2014/main" id="{279F79B5-F7C9-34E6-0FD9-FC3ED9DD5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dirty="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Resolution of the issue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Adding a superconductive resistor solves the instability issue while causing no losses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As expected, when the load is lower than the threshold load (here 2MW), the system tends to stabilize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E30B96-821B-3B7D-4C5E-46B73327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57CBB-4D61-1022-FCCF-2D99611D31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B5C27B-BC74-A9CA-1359-ACEA056725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  <p:pic>
        <p:nvPicPr>
          <p:cNvPr id="3" name="Image 2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E802CB8F-BDC5-D408-3FDA-0331FDB12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0" y="2350746"/>
            <a:ext cx="4193826" cy="3145370"/>
          </a:xfrm>
          <a:prstGeom prst="rect">
            <a:avLst/>
          </a:prstGeom>
        </p:spPr>
      </p:pic>
      <p:pic>
        <p:nvPicPr>
          <p:cNvPr id="9" name="Image 8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27DD594C-C439-4A59-F0E9-9298C1DD4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369" y="2307337"/>
            <a:ext cx="4251705" cy="318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583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195C-0D9D-AF50-974B-442A6D43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>
            <a:extLst>
              <a:ext uri="{FF2B5EF4-FFF2-40B4-BE49-F238E27FC236}">
                <a16:creationId xmlns:a16="http://schemas.microsoft.com/office/drawing/2014/main" id="{13E055EC-AF98-151F-82F2-92D51499F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But with the superconductor added, even load much higher than the expected threshold do not diverge (here the load is 5MW)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0262ED-3A60-340F-EBC4-59E1CADF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Short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4B8BE5-A0C1-6BC9-5C47-4AA24BF959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4F11A3-F716-1BAA-357F-5BCA78CC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  <p:pic>
        <p:nvPicPr>
          <p:cNvPr id="11" name="Image 10" descr="Une image contenant texte, capture d’écran, ligne, diagramme&#10;&#10;Description générée automatiquement">
            <a:extLst>
              <a:ext uri="{FF2B5EF4-FFF2-40B4-BE49-F238E27FC236}">
                <a16:creationId xmlns:a16="http://schemas.microsoft.com/office/drawing/2014/main" id="{E12B09E4-4D3A-5AB5-B67D-B48CDC4D0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4" y="1001050"/>
            <a:ext cx="4251705" cy="3188779"/>
          </a:xfrm>
          <a:prstGeom prst="rect">
            <a:avLst/>
          </a:prstGeom>
        </p:spPr>
      </p:pic>
      <p:pic>
        <p:nvPicPr>
          <p:cNvPr id="13" name="Image 12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BA013A4A-5570-F670-7509-9CB078208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1050"/>
            <a:ext cx="4251705" cy="318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776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660BC95-67E3-214D-B99C-17C62ADD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7C959A-493E-6EB1-F875-5C0E3F51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6E0813-12E1-9CC2-FE0D-6705C7C98F08}"/>
              </a:ext>
            </a:extLst>
          </p:cNvPr>
          <p:cNvSpPr txBox="1"/>
          <p:nvPr/>
        </p:nvSpPr>
        <p:spPr>
          <a:xfrm>
            <a:off x="543296" y="1026617"/>
            <a:ext cx="4577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600" b="1" dirty="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Here is the circuit used: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58808A8-371A-0BB6-2F9C-A0722A19B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20" y="2590518"/>
            <a:ext cx="8327159" cy="3564819"/>
          </a:xfrm>
          <a:prstGeom prst="rect">
            <a:avLst/>
          </a:prstGeom>
        </p:spPr>
      </p:pic>
      <p:sp>
        <p:nvSpPr>
          <p:cNvPr id="6" name="Text Box 1">
            <a:extLst>
              <a:ext uri="{FF2B5EF4-FFF2-40B4-BE49-F238E27FC236}">
                <a16:creationId xmlns:a16="http://schemas.microsoft.com/office/drawing/2014/main" id="{97C173D9-669F-992A-0C81-8B33A6549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220" y="146182"/>
            <a:ext cx="5337037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1600" dirty="0">
                <a:solidFill>
                  <a:srgbClr val="000000"/>
                </a:solidFill>
                <a:ea typeface="ＭＳ Ｐゴシック" charset="-128"/>
              </a:rPr>
              <a:t>Estimation of the Parameters found in </a:t>
            </a:r>
            <a:r>
              <a:rPr lang="en-US" sz="1600" i="1" dirty="0">
                <a:solidFill>
                  <a:srgbClr val="000000"/>
                </a:solidFill>
                <a:ea typeface="ＭＳ Ｐゴシック" charset="-128"/>
              </a:rPr>
              <a:t>: </a:t>
            </a:r>
            <a:r>
              <a:rPr lang="en-US" sz="1600" i="1" dirty="0"/>
              <a:t>Feasibility Study of a Superconducting Power Filter for HVDC grids </a:t>
            </a:r>
            <a:r>
              <a:rPr lang="en-US" sz="1600" dirty="0"/>
              <a:t>by </a:t>
            </a:r>
            <a:r>
              <a:rPr lang="fr-FR" sz="1600" dirty="0"/>
              <a:t>Loïc </a:t>
            </a:r>
            <a:r>
              <a:rPr lang="fr-FR" sz="1600" dirty="0" err="1"/>
              <a:t>Queval</a:t>
            </a:r>
            <a:r>
              <a:rPr lang="fr-FR" sz="1600" dirty="0"/>
              <a:t>, Olivier </a:t>
            </a:r>
            <a:r>
              <a:rPr lang="fr-FR" sz="1600" dirty="0" err="1"/>
              <a:t>Despouys</a:t>
            </a:r>
            <a:r>
              <a:rPr lang="fr-FR" sz="1600" dirty="0"/>
              <a:t>, Frederic </a:t>
            </a:r>
            <a:r>
              <a:rPr lang="fr-FR" sz="1600" dirty="0" err="1"/>
              <a:t>Trillaud</a:t>
            </a:r>
            <a:r>
              <a:rPr lang="fr-FR" sz="1600" dirty="0"/>
              <a:t>, Bruno </a:t>
            </a:r>
            <a:r>
              <a:rPr lang="fr-FR" sz="1600" dirty="0" err="1"/>
              <a:t>Douine</a:t>
            </a:r>
            <a:endParaRPr lang="en-US" sz="1600" dirty="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53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 dirty="0">
                <a:solidFill>
                  <a:srgbClr val="000000"/>
                </a:solidFill>
                <a:ea typeface="ＭＳ Ｐゴシック" charset="-128"/>
              </a:rPr>
              <a:t>III. Conclusion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60183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 dirty="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Conclusion</a:t>
            </a:r>
            <a:endParaRPr lang="en-US" altLang="ja-JP" sz="3200" dirty="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1587" indent="-342900" algn="just">
              <a:lnSpc>
                <a:spcPct val="102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dirty="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High loads cause instability in the system</a:t>
            </a:r>
          </a:p>
          <a:p>
            <a:pPr marL="1587" indent="-342900" algn="just">
              <a:lnSpc>
                <a:spcPct val="102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dirty="0">
                <a:ea typeface="Lucida Sans Unicode" charset="0"/>
                <a:cs typeface="Lucida Sans Unicode" charset="0"/>
              </a:rPr>
              <a:t>A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higher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resistance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would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dampen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it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but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would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also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cause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huge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losses</a:t>
            </a:r>
            <a:endParaRPr lang="fr-FR" altLang="ja-JP" sz="2400" dirty="0">
              <a:ea typeface="Lucida Sans Unicode" charset="0"/>
              <a:cs typeface="Lucida Sans Unicode" charset="0"/>
            </a:endParaRPr>
          </a:p>
          <a:p>
            <a:pPr marL="1587" indent="-342900" algn="just">
              <a:lnSpc>
                <a:spcPct val="102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 dirty="0">
                <a:ea typeface="Lucida Sans Unicode" charset="0"/>
                <a:cs typeface="Lucida Sans Unicode" charset="0"/>
              </a:rPr>
              <a:t>A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superconductive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resistance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takes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the best of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both</a:t>
            </a:r>
            <a:r>
              <a:rPr lang="fr-FR" altLang="ja-JP" sz="2400" dirty="0">
                <a:ea typeface="Lucida Sans Unicode" charset="0"/>
                <a:cs typeface="Lucida Sans Unicode" charset="0"/>
              </a:rPr>
              <a:t> </a:t>
            </a:r>
            <a:r>
              <a:rPr lang="fr-FR" altLang="ja-JP" sz="2400" dirty="0" err="1">
                <a:ea typeface="Lucida Sans Unicode" charset="0"/>
                <a:cs typeface="Lucida Sans Unicode" charset="0"/>
              </a:rPr>
              <a:t>worlds</a:t>
            </a:r>
            <a:endParaRPr lang="en-US" altLang="ja-JP" sz="2400" dirty="0"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5613" y="6551613"/>
            <a:ext cx="1068387" cy="306387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1017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 dirty="0">
                <a:solidFill>
                  <a:srgbClr val="000000"/>
                </a:solidFill>
                <a:ea typeface="ＭＳ Ｐゴシック" charset="-128"/>
              </a:rPr>
              <a:t>Merci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 dirty="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References</a:t>
            </a:r>
            <a:endParaRPr lang="en-US" altLang="ja-JP" sz="3200" dirty="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92650"/>
              </p:ext>
            </p:extLst>
          </p:nvPr>
        </p:nvGraphicFramePr>
        <p:xfrm>
          <a:off x="365400" y="1499350"/>
          <a:ext cx="8413200" cy="3515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P.C. Krause, O. </a:t>
                      </a:r>
                      <a:r>
                        <a:rPr lang="en-US" altLang="ja-JP" dirty="0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Wasynczuk</a:t>
                      </a: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S.D. </a:t>
                      </a:r>
                      <a:r>
                        <a:rPr lang="en-US" altLang="ja-JP" dirty="0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Sudhoff</a:t>
                      </a: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 altLang="ja-JP" i="1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Analysis of electric machinery and drive systems</a:t>
                      </a: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IEEE Press, 2002.</a:t>
                      </a:r>
                      <a:endParaRPr lang="fr-FR" altLang="ja-JP" dirty="0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[2]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L. </a:t>
                      </a:r>
                      <a:r>
                        <a:rPr lang="en-US" dirty="0" err="1"/>
                        <a:t>Quéval</a:t>
                      </a:r>
                      <a:r>
                        <a:rPr lang="en-US" dirty="0"/>
                        <a:t>, H. </a:t>
                      </a:r>
                      <a:r>
                        <a:rPr lang="en-US" dirty="0" err="1"/>
                        <a:t>Ohsaki</a:t>
                      </a:r>
                      <a:r>
                        <a:rPr lang="en-US" dirty="0"/>
                        <a:t>, "Nonlinear </a:t>
                      </a:r>
                      <a:r>
                        <a:rPr lang="en-US" dirty="0" err="1"/>
                        <a:t>abc</a:t>
                      </a:r>
                      <a:r>
                        <a:rPr lang="en-US" dirty="0"/>
                        <a:t>-model for electrical machines using N-D lookup tables," </a:t>
                      </a:r>
                      <a:r>
                        <a:rPr lang="en-US" i="1" dirty="0"/>
                        <a:t>IEEE Transactions on Energy Conversion</a:t>
                      </a:r>
                      <a:r>
                        <a:rPr lang="en-US" dirty="0"/>
                        <a:t>, vol. 30, no. 1, pp. 316-322, March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[3]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L. </a:t>
                      </a:r>
                      <a:r>
                        <a:rPr lang="en-US" dirty="0" err="1"/>
                        <a:t>Quéval</a:t>
                      </a:r>
                      <a:r>
                        <a:rPr lang="en-US" dirty="0"/>
                        <a:t>, A. Coty, L. </a:t>
                      </a:r>
                      <a:r>
                        <a:rPr lang="en-US" dirty="0" err="1"/>
                        <a:t>Vido</a:t>
                      </a:r>
                      <a:r>
                        <a:rPr lang="en-US" dirty="0"/>
                        <a:t>, B. </a:t>
                      </a:r>
                      <a:r>
                        <a:rPr lang="en-US" dirty="0" err="1"/>
                        <a:t>Multon</a:t>
                      </a:r>
                      <a:r>
                        <a:rPr lang="en-US" dirty="0"/>
                        <a:t>, "Photovoltaic motors review, comparison and switched reluctance motor prototype," </a:t>
                      </a:r>
                      <a:r>
                        <a:rPr lang="en-US" i="1" dirty="0"/>
                        <a:t>10</a:t>
                      </a:r>
                      <a:r>
                        <a:rPr lang="en-US" i="1" baseline="30000" dirty="0"/>
                        <a:t>th</a:t>
                      </a:r>
                      <a:r>
                        <a:rPr lang="en-US" i="1" dirty="0"/>
                        <a:t> International Conference on Ecological Vehicles and Renewable Energies (EVER2015)</a:t>
                      </a:r>
                      <a:r>
                        <a:rPr lang="en-US" dirty="0"/>
                        <a:t>, Monaco, April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[4]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L. </a:t>
                      </a:r>
                      <a:r>
                        <a:rPr lang="en-US" altLang="ja-JP" dirty="0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Quéval</a:t>
                      </a: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 dirty="0"/>
                        <a:t>"</a:t>
                      </a: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Modeling and simulation of grid-connected superconducting wind turbine generators,</a:t>
                      </a:r>
                      <a:r>
                        <a:rPr lang="en-US" dirty="0"/>
                        <a:t>"</a:t>
                      </a:r>
                      <a:r>
                        <a:rPr lang="en-US" altLang="ja-JP" dirty="0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 PhD thesis, The University of Tokyo, Tokyo, Japan, 2013.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[5]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"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COMSOL Multiphysics version 4.3a</a:t>
                      </a:r>
                      <a:r>
                        <a:rPr lang="en-US" dirty="0"/>
                        <a:t>"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[Online]. Available: www.comsol.com.</a:t>
                      </a:r>
                      <a:endParaRPr lang="en-US" altLang="ja-JP" dirty="0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621AA0-3505-43C7-8640-64F46759596F}"/>
</file>

<file path=customXml/itemProps2.xml><?xml version="1.0" encoding="utf-8"?>
<ds:datastoreItem xmlns:ds="http://schemas.openxmlformats.org/officeDocument/2006/customXml" ds:itemID="{FB90B879-DC45-4576-BD26-22026BB99AA7}">
  <ds:schemaRefs>
    <ds:schemaRef ds:uri="http://purl.org/dc/terms/"/>
    <ds:schemaRef ds:uri="http://purl.org/dc/elements/1.1/"/>
    <ds:schemaRef ds:uri="de53268d-be1b-4b5a-b9bf-e616a275efa9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218d942a-1588-4b14-8e60-1455442023b0"/>
  </ds:schemaRefs>
</ds:datastoreItem>
</file>

<file path=customXml/itemProps3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454</Words>
  <Application>Microsoft Office PowerPoint</Application>
  <PresentationFormat>On-screen Show (4:3)</PresentationFormat>
  <Paragraphs>122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lastModifiedBy>Thomas Bordino (Student at CentraleSupelec)</cp:lastModifiedBy>
  <cp:revision>166</cp:revision>
  <cp:lastPrinted>2014-10-16T07:55:38Z</cp:lastPrinted>
  <dcterms:created xsi:type="dcterms:W3CDTF">2015-10-23T07:22:14Z</dcterms:created>
  <dcterms:modified xsi:type="dcterms:W3CDTF">2024-03-06T08:48:54Z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